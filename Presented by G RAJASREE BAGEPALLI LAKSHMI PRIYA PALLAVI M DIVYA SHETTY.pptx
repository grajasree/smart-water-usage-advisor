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serrat Ultra-Bold" charset="1" panose="00000900000000000000"/>
      <p:regular r:id="rId17"/>
    </p:embeddedFont>
    <p:embeddedFont>
      <p:font typeface="Montserrat Bold" charset="1" panose="00000800000000000000"/>
      <p:regular r:id="rId18"/>
    </p:embeddedFont>
    <p:embeddedFont>
      <p:font typeface="Montserrat" charset="1" panose="00000500000000000000"/>
      <p:regular r:id="rId19"/>
    </p:embeddedFont>
    <p:embeddedFont>
      <p:font typeface="Montserrat Semi-Bold" charset="1" panose="000007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3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31315">
            <a:off x="3594661" y="4342632"/>
            <a:ext cx="11284697" cy="2041866"/>
            <a:chOff x="0" y="0"/>
            <a:chExt cx="2526157" cy="4570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26157" cy="457086"/>
            </a:xfrm>
            <a:custGeom>
              <a:avLst/>
              <a:gdLst/>
              <a:ahLst/>
              <a:cxnLst/>
              <a:rect r="r" b="b" t="t" l="l"/>
              <a:pathLst>
                <a:path h="457086" w="2526157">
                  <a:moveTo>
                    <a:pt x="9605" y="0"/>
                  </a:moveTo>
                  <a:lnTo>
                    <a:pt x="2516552" y="0"/>
                  </a:lnTo>
                  <a:cubicBezTo>
                    <a:pt x="2521857" y="0"/>
                    <a:pt x="2526157" y="4300"/>
                    <a:pt x="2526157" y="9605"/>
                  </a:cubicBezTo>
                  <a:lnTo>
                    <a:pt x="2526157" y="447481"/>
                  </a:lnTo>
                  <a:cubicBezTo>
                    <a:pt x="2526157" y="452786"/>
                    <a:pt x="2521857" y="457086"/>
                    <a:pt x="2516552" y="457086"/>
                  </a:cubicBezTo>
                  <a:lnTo>
                    <a:pt x="9605" y="457086"/>
                  </a:lnTo>
                  <a:cubicBezTo>
                    <a:pt x="4300" y="457086"/>
                    <a:pt x="0" y="452786"/>
                    <a:pt x="0" y="447481"/>
                  </a:cubicBezTo>
                  <a:lnTo>
                    <a:pt x="0" y="9605"/>
                  </a:lnTo>
                  <a:cubicBezTo>
                    <a:pt x="0" y="4300"/>
                    <a:pt x="4300" y="0"/>
                    <a:pt x="9605" y="0"/>
                  </a:cubicBezTo>
                  <a:close/>
                </a:path>
              </a:pathLst>
            </a:custGeom>
            <a:solidFill>
              <a:srgbClr val="00010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26157" cy="495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31315">
            <a:off x="3408642" y="4170307"/>
            <a:ext cx="11284697" cy="2041866"/>
            <a:chOff x="0" y="0"/>
            <a:chExt cx="2526157" cy="4570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26157" cy="457086"/>
            </a:xfrm>
            <a:custGeom>
              <a:avLst/>
              <a:gdLst/>
              <a:ahLst/>
              <a:cxnLst/>
              <a:rect r="r" b="b" t="t" l="l"/>
              <a:pathLst>
                <a:path h="457086" w="2526157">
                  <a:moveTo>
                    <a:pt x="9605" y="0"/>
                  </a:moveTo>
                  <a:lnTo>
                    <a:pt x="2516552" y="0"/>
                  </a:lnTo>
                  <a:cubicBezTo>
                    <a:pt x="2521857" y="0"/>
                    <a:pt x="2526157" y="4300"/>
                    <a:pt x="2526157" y="9605"/>
                  </a:cubicBezTo>
                  <a:lnTo>
                    <a:pt x="2526157" y="447481"/>
                  </a:lnTo>
                  <a:cubicBezTo>
                    <a:pt x="2526157" y="452786"/>
                    <a:pt x="2521857" y="457086"/>
                    <a:pt x="2516552" y="457086"/>
                  </a:cubicBezTo>
                  <a:lnTo>
                    <a:pt x="9605" y="457086"/>
                  </a:lnTo>
                  <a:cubicBezTo>
                    <a:pt x="4300" y="457086"/>
                    <a:pt x="0" y="452786"/>
                    <a:pt x="0" y="447481"/>
                  </a:cubicBezTo>
                  <a:lnTo>
                    <a:pt x="0" y="9605"/>
                  </a:lnTo>
                  <a:cubicBezTo>
                    <a:pt x="0" y="4300"/>
                    <a:pt x="4300" y="0"/>
                    <a:pt x="9605" y="0"/>
                  </a:cubicBezTo>
                  <a:close/>
                </a:path>
              </a:pathLst>
            </a:custGeom>
            <a:solidFill>
              <a:srgbClr val="D4E84E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26157" cy="495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2885485" y="1253692"/>
            <a:ext cx="4909973" cy="4365412"/>
          </a:xfrm>
          <a:custGeom>
            <a:avLst/>
            <a:gdLst/>
            <a:ahLst/>
            <a:cxnLst/>
            <a:rect r="r" b="b" t="t" l="l"/>
            <a:pathLst>
              <a:path h="4365412" w="4909973">
                <a:moveTo>
                  <a:pt x="4909973" y="0"/>
                </a:moveTo>
                <a:lnTo>
                  <a:pt x="0" y="0"/>
                </a:lnTo>
                <a:lnTo>
                  <a:pt x="0" y="4365412"/>
                </a:lnTo>
                <a:lnTo>
                  <a:pt x="4909973" y="4365412"/>
                </a:lnTo>
                <a:lnTo>
                  <a:pt x="4909973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true" flipV="false" rot="0">
            <a:off x="12885485" y="1086662"/>
            <a:ext cx="4909973" cy="4365412"/>
          </a:xfrm>
          <a:custGeom>
            <a:avLst/>
            <a:gdLst/>
            <a:ahLst/>
            <a:cxnLst/>
            <a:rect r="r" b="b" t="t" l="l"/>
            <a:pathLst>
              <a:path h="4365412" w="4909973">
                <a:moveTo>
                  <a:pt x="4909973" y="0"/>
                </a:moveTo>
                <a:lnTo>
                  <a:pt x="0" y="0"/>
                </a:lnTo>
                <a:lnTo>
                  <a:pt x="0" y="4365413"/>
                </a:lnTo>
                <a:lnTo>
                  <a:pt x="4909973" y="4365413"/>
                </a:lnTo>
                <a:lnTo>
                  <a:pt x="490997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522853" y="5238865"/>
            <a:ext cx="5367974" cy="4352939"/>
          </a:xfrm>
          <a:custGeom>
            <a:avLst/>
            <a:gdLst/>
            <a:ahLst/>
            <a:cxnLst/>
            <a:rect r="r" b="b" t="t" l="l"/>
            <a:pathLst>
              <a:path h="4352939" w="5367974">
                <a:moveTo>
                  <a:pt x="0" y="0"/>
                </a:moveTo>
                <a:lnTo>
                  <a:pt x="5367973" y="0"/>
                </a:lnTo>
                <a:lnTo>
                  <a:pt x="5367973" y="4352939"/>
                </a:lnTo>
                <a:lnTo>
                  <a:pt x="0" y="43529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376480" y="5143500"/>
            <a:ext cx="5367974" cy="4352939"/>
          </a:xfrm>
          <a:custGeom>
            <a:avLst/>
            <a:gdLst/>
            <a:ahLst/>
            <a:cxnLst/>
            <a:rect r="r" b="b" t="t" l="l"/>
            <a:pathLst>
              <a:path h="4352939" w="5367974">
                <a:moveTo>
                  <a:pt x="0" y="0"/>
                </a:moveTo>
                <a:lnTo>
                  <a:pt x="5367974" y="0"/>
                </a:lnTo>
                <a:lnTo>
                  <a:pt x="5367974" y="4352939"/>
                </a:lnTo>
                <a:lnTo>
                  <a:pt x="0" y="43529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-1120993">
            <a:off x="14857342" y="6796323"/>
            <a:ext cx="3256091" cy="3700103"/>
          </a:xfrm>
          <a:custGeom>
            <a:avLst/>
            <a:gdLst/>
            <a:ahLst/>
            <a:cxnLst/>
            <a:rect r="r" b="b" t="t" l="l"/>
            <a:pathLst>
              <a:path h="3700103" w="3256091">
                <a:moveTo>
                  <a:pt x="0" y="0"/>
                </a:moveTo>
                <a:lnTo>
                  <a:pt x="3256090" y="0"/>
                </a:lnTo>
                <a:lnTo>
                  <a:pt x="3256090" y="3700103"/>
                </a:lnTo>
                <a:lnTo>
                  <a:pt x="0" y="37001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9583270">
            <a:off x="195734" y="-199769"/>
            <a:ext cx="3312088" cy="3763737"/>
          </a:xfrm>
          <a:custGeom>
            <a:avLst/>
            <a:gdLst/>
            <a:ahLst/>
            <a:cxnLst/>
            <a:rect r="r" b="b" t="t" l="l"/>
            <a:pathLst>
              <a:path h="3763737" w="3312088">
                <a:moveTo>
                  <a:pt x="0" y="0"/>
                </a:moveTo>
                <a:lnTo>
                  <a:pt x="3312088" y="0"/>
                </a:lnTo>
                <a:lnTo>
                  <a:pt x="3312088" y="3763737"/>
                </a:lnTo>
                <a:lnTo>
                  <a:pt x="0" y="37637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1069721">
            <a:off x="16202189" y="1593374"/>
            <a:ext cx="1057111" cy="1221452"/>
          </a:xfrm>
          <a:custGeom>
            <a:avLst/>
            <a:gdLst/>
            <a:ahLst/>
            <a:cxnLst/>
            <a:rect r="r" b="b" t="t" l="l"/>
            <a:pathLst>
              <a:path h="1221452" w="1057111">
                <a:moveTo>
                  <a:pt x="0" y="0"/>
                </a:moveTo>
                <a:lnTo>
                  <a:pt x="1057111" y="0"/>
                </a:lnTo>
                <a:lnTo>
                  <a:pt x="1057111" y="1221452"/>
                </a:lnTo>
                <a:lnTo>
                  <a:pt x="0" y="12214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1069721">
            <a:off x="1425011" y="5937698"/>
            <a:ext cx="846769" cy="978410"/>
          </a:xfrm>
          <a:custGeom>
            <a:avLst/>
            <a:gdLst/>
            <a:ahLst/>
            <a:cxnLst/>
            <a:rect r="r" b="b" t="t" l="l"/>
            <a:pathLst>
              <a:path h="978410" w="846769">
                <a:moveTo>
                  <a:pt x="0" y="0"/>
                </a:moveTo>
                <a:lnTo>
                  <a:pt x="846770" y="0"/>
                </a:lnTo>
                <a:lnTo>
                  <a:pt x="846770" y="978410"/>
                </a:lnTo>
                <a:lnTo>
                  <a:pt x="0" y="9784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088064" y="2239133"/>
            <a:ext cx="7932802" cy="1850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53"/>
              </a:lnSpc>
            </a:pPr>
            <a:r>
              <a:rPr lang="en-US" b="true" sz="10824" spc="-400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AI FOR</a:t>
            </a:r>
          </a:p>
        </p:txBody>
      </p:sp>
      <p:sp>
        <p:nvSpPr>
          <p:cNvPr name="TextBox 17" id="17"/>
          <p:cNvSpPr txBox="true"/>
          <p:nvPr/>
        </p:nvSpPr>
        <p:spPr>
          <a:xfrm rot="-131315">
            <a:off x="3906937" y="4275299"/>
            <a:ext cx="10284591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-185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SUSTAINABILITY VIRTUAL INTERNSHIP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8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528991">
            <a:off x="14305985" y="-760489"/>
            <a:ext cx="3948810" cy="4487284"/>
          </a:xfrm>
          <a:custGeom>
            <a:avLst/>
            <a:gdLst/>
            <a:ahLst/>
            <a:cxnLst/>
            <a:rect r="r" b="b" t="t" l="l"/>
            <a:pathLst>
              <a:path h="4487284" w="3948810">
                <a:moveTo>
                  <a:pt x="3948810" y="0"/>
                </a:moveTo>
                <a:lnTo>
                  <a:pt x="0" y="0"/>
                </a:lnTo>
                <a:lnTo>
                  <a:pt x="0" y="4487283"/>
                </a:lnTo>
                <a:lnTo>
                  <a:pt x="3948810" y="4487283"/>
                </a:lnTo>
                <a:lnTo>
                  <a:pt x="39488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650978">
            <a:off x="10747665" y="1492736"/>
            <a:ext cx="7962553" cy="7079433"/>
          </a:xfrm>
          <a:custGeom>
            <a:avLst/>
            <a:gdLst/>
            <a:ahLst/>
            <a:cxnLst/>
            <a:rect r="r" b="b" t="t" l="l"/>
            <a:pathLst>
              <a:path h="7079433" w="7962553">
                <a:moveTo>
                  <a:pt x="7962553" y="0"/>
                </a:moveTo>
                <a:lnTo>
                  <a:pt x="0" y="0"/>
                </a:lnTo>
                <a:lnTo>
                  <a:pt x="0" y="7079434"/>
                </a:lnTo>
                <a:lnTo>
                  <a:pt x="7962553" y="7079434"/>
                </a:lnTo>
                <a:lnTo>
                  <a:pt x="7962553" y="0"/>
                </a:lnTo>
                <a:close/>
              </a:path>
            </a:pathLst>
          </a:custGeom>
          <a:blipFill>
            <a:blip r:embed="rId4">
              <a:alphaModFix amt="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-650978">
            <a:off x="10696678" y="1226705"/>
            <a:ext cx="7962553" cy="7079433"/>
          </a:xfrm>
          <a:custGeom>
            <a:avLst/>
            <a:gdLst/>
            <a:ahLst/>
            <a:cxnLst/>
            <a:rect r="r" b="b" t="t" l="l"/>
            <a:pathLst>
              <a:path h="7079433" w="7962553">
                <a:moveTo>
                  <a:pt x="7962553" y="0"/>
                </a:moveTo>
                <a:lnTo>
                  <a:pt x="0" y="0"/>
                </a:lnTo>
                <a:lnTo>
                  <a:pt x="0" y="7079434"/>
                </a:lnTo>
                <a:lnTo>
                  <a:pt x="7962553" y="7079434"/>
                </a:lnTo>
                <a:lnTo>
                  <a:pt x="79625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418743">
            <a:off x="11231568" y="3185105"/>
            <a:ext cx="1714328" cy="1980841"/>
          </a:xfrm>
          <a:custGeom>
            <a:avLst/>
            <a:gdLst/>
            <a:ahLst/>
            <a:cxnLst/>
            <a:rect r="r" b="b" t="t" l="l"/>
            <a:pathLst>
              <a:path h="1980841" w="1714328">
                <a:moveTo>
                  <a:pt x="0" y="0"/>
                </a:moveTo>
                <a:lnTo>
                  <a:pt x="1714328" y="0"/>
                </a:lnTo>
                <a:lnTo>
                  <a:pt x="1714328" y="1980841"/>
                </a:lnTo>
                <a:lnTo>
                  <a:pt x="0" y="19808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68813" y="2830708"/>
            <a:ext cx="7772582" cy="147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50"/>
              </a:lnSpc>
            </a:pPr>
            <a:r>
              <a:rPr lang="en-US" b="true" sz="3500" spc="-129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SMA</a:t>
            </a:r>
            <a:r>
              <a:rPr lang="en-US" b="true" sz="3500" spc="-129" strike="noStrike" u="none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RT</a:t>
            </a:r>
            <a:r>
              <a:rPr lang="en-US" b="true" sz="3500" spc="-129" strike="noStrike" u="none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WATER USAGE ADV</a:t>
            </a:r>
            <a:r>
              <a:rPr lang="en-US" b="true" sz="3500" spc="-129" strike="noStrike" u="none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</a:t>
            </a:r>
            <a:r>
              <a:rPr lang="en-US" b="true" sz="3500" spc="-129" strike="noStrike" u="none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SOR US</a:t>
            </a:r>
            <a:r>
              <a:rPr lang="en-US" b="true" sz="3500" spc="-129" strike="noStrike" u="none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</a:t>
            </a:r>
            <a:r>
              <a:rPr lang="en-US" b="true" sz="3500" spc="-129" strike="noStrike" u="none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NG RETR</a:t>
            </a:r>
            <a:r>
              <a:rPr lang="en-US" b="true" sz="3500" spc="-129" strike="noStrike" u="none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</a:t>
            </a:r>
            <a:r>
              <a:rPr lang="en-US" b="true" sz="3500" spc="-129" strike="noStrike" u="none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EV</a:t>
            </a:r>
            <a:r>
              <a:rPr lang="en-US" b="true" sz="3500" spc="-129" strike="noStrike" u="none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AL</a:t>
            </a:r>
            <a:r>
              <a:rPr lang="en-US" b="true" sz="3500" spc="-129" strike="noStrike" u="none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-AUGME</a:t>
            </a:r>
            <a:r>
              <a:rPr lang="en-US" b="true" sz="3500" spc="-129" strike="noStrike" u="none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NTE</a:t>
            </a:r>
            <a:r>
              <a:rPr lang="en-US" b="true" sz="3500" spc="-129" strike="noStrike" u="none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 G</a:t>
            </a:r>
            <a:r>
              <a:rPr lang="en-US" b="true" sz="3500" spc="-129" strike="noStrike" u="none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ENE</a:t>
            </a:r>
            <a:r>
              <a:rPr lang="en-US" b="true" sz="3500" spc="-129" strike="noStrike" u="none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RATION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559243"/>
            <a:ext cx="8540987" cy="524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true" sz="2500" spc="-92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PRESENTED BY </a:t>
            </a:r>
          </a:p>
          <a:p>
            <a:pPr algn="ctr">
              <a:lnSpc>
                <a:spcPts val="3500"/>
              </a:lnSpc>
            </a:pPr>
          </a:p>
          <a:p>
            <a:pPr algn="ctr">
              <a:lnSpc>
                <a:spcPts val="3500"/>
              </a:lnSpc>
            </a:pPr>
            <a:r>
              <a:rPr lang="en-US" sz="2500" spc="-92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G RAJASREE  [2411021061124]</a:t>
            </a:r>
          </a:p>
          <a:p>
            <a:pPr algn="ctr">
              <a:lnSpc>
                <a:spcPts val="3500"/>
              </a:lnSpc>
            </a:pPr>
            <a:r>
              <a:rPr lang="en-US" sz="2500" spc="-92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BAGEPALLI LAKSHMI PRIYA  [2411021061128]</a:t>
            </a:r>
          </a:p>
          <a:p>
            <a:pPr algn="ctr">
              <a:lnSpc>
                <a:spcPts val="3500"/>
              </a:lnSpc>
            </a:pPr>
            <a:r>
              <a:rPr lang="en-US" sz="2500" spc="-92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PALLAVI M  [24110210611356]</a:t>
            </a:r>
          </a:p>
          <a:p>
            <a:pPr algn="ctr">
              <a:lnSpc>
                <a:spcPts val="3500"/>
              </a:lnSpc>
            </a:pPr>
            <a:r>
              <a:rPr lang="en-US" sz="2500" spc="-92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DIVYA SHETTY  [2411021061275]</a:t>
            </a:r>
          </a:p>
          <a:p>
            <a:pPr algn="ctr">
              <a:lnSpc>
                <a:spcPts val="3500"/>
              </a:lnSpc>
            </a:pPr>
          </a:p>
          <a:p>
            <a:pPr algn="ctr">
              <a:lnSpc>
                <a:spcPts val="3500"/>
              </a:lnSpc>
            </a:pPr>
          </a:p>
          <a:p>
            <a:pPr algn="ctr">
              <a:lnSpc>
                <a:spcPts val="3500"/>
              </a:lnSpc>
            </a:pPr>
            <a:r>
              <a:rPr lang="en-US" b="true" sz="2500" spc="-92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College Name: ALLIANCE UNIVERSITY </a:t>
            </a:r>
          </a:p>
          <a:p>
            <a:pPr algn="ctr">
              <a:lnSpc>
                <a:spcPts val="3500"/>
              </a:lnSpc>
            </a:pPr>
            <a:r>
              <a:rPr lang="en-US" sz="2500" spc="-92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Internship: 1M1B – AI for Sustainability Virtual Internship</a:t>
            </a:r>
          </a:p>
          <a:p>
            <a:pPr algn="ctr">
              <a:lnSpc>
                <a:spcPts val="3500"/>
              </a:lnSpc>
            </a:pPr>
            <a:r>
              <a:rPr lang="en-US" sz="2500" spc="-92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SDG: SDG 6 – Clean Water and Sanitation</a:t>
            </a:r>
          </a:p>
          <a:p>
            <a:pPr algn="ctr">
              <a:lnSpc>
                <a:spcPts val="350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-131315">
            <a:off x="2578703" y="1300260"/>
            <a:ext cx="5952801" cy="1085644"/>
            <a:chOff x="0" y="0"/>
            <a:chExt cx="1603632" cy="2924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3632" cy="292463"/>
            </a:xfrm>
            <a:custGeom>
              <a:avLst/>
              <a:gdLst/>
              <a:ahLst/>
              <a:cxnLst/>
              <a:rect r="r" b="b" t="t" l="l"/>
              <a:pathLst>
                <a:path h="292463" w="1603632">
                  <a:moveTo>
                    <a:pt x="18208" y="0"/>
                  </a:moveTo>
                  <a:lnTo>
                    <a:pt x="1585424" y="0"/>
                  </a:lnTo>
                  <a:cubicBezTo>
                    <a:pt x="1595480" y="0"/>
                    <a:pt x="1603632" y="8152"/>
                    <a:pt x="1603632" y="18208"/>
                  </a:cubicBezTo>
                  <a:lnTo>
                    <a:pt x="1603632" y="274255"/>
                  </a:lnTo>
                  <a:cubicBezTo>
                    <a:pt x="1603632" y="279084"/>
                    <a:pt x="1601714" y="283715"/>
                    <a:pt x="1598299" y="287130"/>
                  </a:cubicBezTo>
                  <a:cubicBezTo>
                    <a:pt x="1594885" y="290545"/>
                    <a:pt x="1590253" y="292463"/>
                    <a:pt x="1585424" y="292463"/>
                  </a:cubicBezTo>
                  <a:lnTo>
                    <a:pt x="18208" y="292463"/>
                  </a:lnTo>
                  <a:cubicBezTo>
                    <a:pt x="13379" y="292463"/>
                    <a:pt x="8748" y="290545"/>
                    <a:pt x="5333" y="287130"/>
                  </a:cubicBezTo>
                  <a:cubicBezTo>
                    <a:pt x="1918" y="283715"/>
                    <a:pt x="0" y="279084"/>
                    <a:pt x="0" y="274255"/>
                  </a:cubicBezTo>
                  <a:lnTo>
                    <a:pt x="0" y="18208"/>
                  </a:lnTo>
                  <a:cubicBezTo>
                    <a:pt x="0" y="13379"/>
                    <a:pt x="1918" y="8748"/>
                    <a:pt x="5333" y="5333"/>
                  </a:cubicBezTo>
                  <a:cubicBezTo>
                    <a:pt x="8748" y="1918"/>
                    <a:pt x="13379" y="0"/>
                    <a:pt x="18208" y="0"/>
                  </a:cubicBezTo>
                  <a:close/>
                </a:path>
              </a:pathLst>
            </a:custGeom>
            <a:solidFill>
              <a:srgbClr val="00010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03632" cy="330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31315">
            <a:off x="2480142" y="1203133"/>
            <a:ext cx="5952801" cy="1085644"/>
            <a:chOff x="0" y="0"/>
            <a:chExt cx="1603632" cy="2924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03632" cy="292463"/>
            </a:xfrm>
            <a:custGeom>
              <a:avLst/>
              <a:gdLst/>
              <a:ahLst/>
              <a:cxnLst/>
              <a:rect r="r" b="b" t="t" l="l"/>
              <a:pathLst>
                <a:path h="292463" w="1603632">
                  <a:moveTo>
                    <a:pt x="18208" y="0"/>
                  </a:moveTo>
                  <a:lnTo>
                    <a:pt x="1585424" y="0"/>
                  </a:lnTo>
                  <a:cubicBezTo>
                    <a:pt x="1595480" y="0"/>
                    <a:pt x="1603632" y="8152"/>
                    <a:pt x="1603632" y="18208"/>
                  </a:cubicBezTo>
                  <a:lnTo>
                    <a:pt x="1603632" y="274255"/>
                  </a:lnTo>
                  <a:cubicBezTo>
                    <a:pt x="1603632" y="279084"/>
                    <a:pt x="1601714" y="283715"/>
                    <a:pt x="1598299" y="287130"/>
                  </a:cubicBezTo>
                  <a:cubicBezTo>
                    <a:pt x="1594885" y="290545"/>
                    <a:pt x="1590253" y="292463"/>
                    <a:pt x="1585424" y="292463"/>
                  </a:cubicBezTo>
                  <a:lnTo>
                    <a:pt x="18208" y="292463"/>
                  </a:lnTo>
                  <a:cubicBezTo>
                    <a:pt x="13379" y="292463"/>
                    <a:pt x="8748" y="290545"/>
                    <a:pt x="5333" y="287130"/>
                  </a:cubicBezTo>
                  <a:cubicBezTo>
                    <a:pt x="1918" y="283715"/>
                    <a:pt x="0" y="279084"/>
                    <a:pt x="0" y="274255"/>
                  </a:cubicBezTo>
                  <a:lnTo>
                    <a:pt x="0" y="18208"/>
                  </a:lnTo>
                  <a:cubicBezTo>
                    <a:pt x="0" y="13379"/>
                    <a:pt x="1918" y="8748"/>
                    <a:pt x="5333" y="5333"/>
                  </a:cubicBezTo>
                  <a:cubicBezTo>
                    <a:pt x="8748" y="1918"/>
                    <a:pt x="13379" y="0"/>
                    <a:pt x="18208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603632" cy="330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-114702">
            <a:off x="2801580" y="1333865"/>
            <a:ext cx="5308436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9"/>
              </a:lnSpc>
              <a:spcBef>
                <a:spcPct val="0"/>
              </a:spcBef>
            </a:pPr>
            <a:r>
              <a:rPr lang="en-US" b="true" sz="4199" spc="-155">
                <a:solidFill>
                  <a:srgbClr val="000101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</a:t>
            </a:r>
            <a:r>
              <a:rPr lang="en-US" b="true" sz="4199" spc="-155" strike="noStrike" u="none">
                <a:solidFill>
                  <a:srgbClr val="000101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</a:t>
            </a:r>
            <a:r>
              <a:rPr lang="en-US" b="true" sz="4199" spc="-155" strike="noStrike" u="none">
                <a:solidFill>
                  <a:srgbClr val="000101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3043" y="2937729"/>
            <a:ext cx="5094954" cy="6043011"/>
            <a:chOff x="0" y="0"/>
            <a:chExt cx="1341881" cy="1591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1881" cy="1591575"/>
            </a:xfrm>
            <a:custGeom>
              <a:avLst/>
              <a:gdLst/>
              <a:ahLst/>
              <a:cxnLst/>
              <a:rect r="r" b="b" t="t" l="l"/>
              <a:pathLst>
                <a:path h="1591575" w="1341881">
                  <a:moveTo>
                    <a:pt x="22793" y="0"/>
                  </a:moveTo>
                  <a:lnTo>
                    <a:pt x="1319088" y="0"/>
                  </a:lnTo>
                  <a:cubicBezTo>
                    <a:pt x="1325133" y="0"/>
                    <a:pt x="1330930" y="2401"/>
                    <a:pt x="1335205" y="6676"/>
                  </a:cubicBezTo>
                  <a:cubicBezTo>
                    <a:pt x="1339479" y="10950"/>
                    <a:pt x="1341881" y="16748"/>
                    <a:pt x="1341881" y="22793"/>
                  </a:cubicBezTo>
                  <a:lnTo>
                    <a:pt x="1341881" y="1568782"/>
                  </a:lnTo>
                  <a:cubicBezTo>
                    <a:pt x="1341881" y="1574827"/>
                    <a:pt x="1339479" y="1580625"/>
                    <a:pt x="1335205" y="1584899"/>
                  </a:cubicBezTo>
                  <a:cubicBezTo>
                    <a:pt x="1330930" y="1589174"/>
                    <a:pt x="1325133" y="1591575"/>
                    <a:pt x="1319088" y="1591575"/>
                  </a:cubicBezTo>
                  <a:lnTo>
                    <a:pt x="22793" y="1591575"/>
                  </a:lnTo>
                  <a:cubicBezTo>
                    <a:pt x="10205" y="1591575"/>
                    <a:pt x="0" y="1581370"/>
                    <a:pt x="0" y="1568782"/>
                  </a:cubicBezTo>
                  <a:lnTo>
                    <a:pt x="0" y="22793"/>
                  </a:lnTo>
                  <a:cubicBezTo>
                    <a:pt x="0" y="16748"/>
                    <a:pt x="2401" y="10950"/>
                    <a:pt x="6676" y="6676"/>
                  </a:cubicBezTo>
                  <a:cubicBezTo>
                    <a:pt x="10950" y="2401"/>
                    <a:pt x="16748" y="0"/>
                    <a:pt x="22793" y="0"/>
                  </a:cubicBezTo>
                  <a:close/>
                </a:path>
              </a:pathLst>
            </a:custGeom>
            <a:solidFill>
              <a:srgbClr val="D4E84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41881" cy="163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02632" y="2937729"/>
            <a:ext cx="5180029" cy="6043011"/>
            <a:chOff x="0" y="0"/>
            <a:chExt cx="1364288" cy="15915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64287" cy="1591575"/>
            </a:xfrm>
            <a:custGeom>
              <a:avLst/>
              <a:gdLst/>
              <a:ahLst/>
              <a:cxnLst/>
              <a:rect r="r" b="b" t="t" l="l"/>
              <a:pathLst>
                <a:path h="1591575" w="1364287">
                  <a:moveTo>
                    <a:pt x="22419" y="0"/>
                  </a:moveTo>
                  <a:lnTo>
                    <a:pt x="1341869" y="0"/>
                  </a:lnTo>
                  <a:cubicBezTo>
                    <a:pt x="1354250" y="0"/>
                    <a:pt x="1364287" y="10037"/>
                    <a:pt x="1364287" y="22419"/>
                  </a:cubicBezTo>
                  <a:lnTo>
                    <a:pt x="1364287" y="1569156"/>
                  </a:lnTo>
                  <a:cubicBezTo>
                    <a:pt x="1364287" y="1575102"/>
                    <a:pt x="1361925" y="1580804"/>
                    <a:pt x="1357721" y="1585009"/>
                  </a:cubicBezTo>
                  <a:cubicBezTo>
                    <a:pt x="1353517" y="1589213"/>
                    <a:pt x="1347815" y="1591575"/>
                    <a:pt x="1341869" y="1591575"/>
                  </a:cubicBezTo>
                  <a:lnTo>
                    <a:pt x="22419" y="1591575"/>
                  </a:lnTo>
                  <a:cubicBezTo>
                    <a:pt x="16473" y="1591575"/>
                    <a:pt x="10771" y="1589213"/>
                    <a:pt x="6566" y="1585009"/>
                  </a:cubicBezTo>
                  <a:cubicBezTo>
                    <a:pt x="2362" y="1580804"/>
                    <a:pt x="0" y="1575102"/>
                    <a:pt x="0" y="1569156"/>
                  </a:cubicBezTo>
                  <a:lnTo>
                    <a:pt x="0" y="22419"/>
                  </a:lnTo>
                  <a:cubicBezTo>
                    <a:pt x="0" y="16473"/>
                    <a:pt x="2362" y="10771"/>
                    <a:pt x="6566" y="6566"/>
                  </a:cubicBezTo>
                  <a:cubicBezTo>
                    <a:pt x="10771" y="2362"/>
                    <a:pt x="16473" y="0"/>
                    <a:pt x="22419" y="0"/>
                  </a:cubicBezTo>
                  <a:close/>
                </a:path>
              </a:pathLst>
            </a:custGeom>
            <a:solidFill>
              <a:srgbClr val="D4E84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364288" cy="163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14575" y="2937729"/>
            <a:ext cx="4955911" cy="6043011"/>
            <a:chOff x="0" y="0"/>
            <a:chExt cx="1305261" cy="15915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05261" cy="1591575"/>
            </a:xfrm>
            <a:custGeom>
              <a:avLst/>
              <a:gdLst/>
              <a:ahLst/>
              <a:cxnLst/>
              <a:rect r="r" b="b" t="t" l="l"/>
              <a:pathLst>
                <a:path h="1591575" w="1305261">
                  <a:moveTo>
                    <a:pt x="23432" y="0"/>
                  </a:moveTo>
                  <a:lnTo>
                    <a:pt x="1281828" y="0"/>
                  </a:lnTo>
                  <a:cubicBezTo>
                    <a:pt x="1294770" y="0"/>
                    <a:pt x="1305261" y="10491"/>
                    <a:pt x="1305261" y="23432"/>
                  </a:cubicBezTo>
                  <a:lnTo>
                    <a:pt x="1305261" y="1568143"/>
                  </a:lnTo>
                  <a:cubicBezTo>
                    <a:pt x="1305261" y="1581084"/>
                    <a:pt x="1294770" y="1591575"/>
                    <a:pt x="1281828" y="1591575"/>
                  </a:cubicBezTo>
                  <a:lnTo>
                    <a:pt x="23432" y="1591575"/>
                  </a:lnTo>
                  <a:cubicBezTo>
                    <a:pt x="10491" y="1591575"/>
                    <a:pt x="0" y="1581084"/>
                    <a:pt x="0" y="1568143"/>
                  </a:cubicBezTo>
                  <a:lnTo>
                    <a:pt x="0" y="23432"/>
                  </a:lnTo>
                  <a:cubicBezTo>
                    <a:pt x="0" y="10491"/>
                    <a:pt x="10491" y="0"/>
                    <a:pt x="23432" y="0"/>
                  </a:cubicBezTo>
                  <a:close/>
                </a:path>
              </a:pathLst>
            </a:custGeom>
            <a:solidFill>
              <a:srgbClr val="D4E84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305261" cy="163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629363" y="3973084"/>
            <a:ext cx="434135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 spc="-92" strike="noStrike" u="none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</a:t>
            </a:r>
            <a:r>
              <a:rPr lang="en-US" b="true" sz="2500" spc="-92" strike="noStrike" u="none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DG</a:t>
            </a:r>
            <a:r>
              <a:rPr lang="en-US" b="true" sz="2500" spc="-92" strike="noStrike" u="none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AL</a:t>
            </a:r>
            <a:r>
              <a:rPr lang="en-US" b="true" sz="2500" spc="-92" strike="noStrike" u="none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</a:t>
            </a:r>
            <a:r>
              <a:rPr lang="en-US" b="true" sz="2500" spc="-92" strike="noStrike" u="none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</a:t>
            </a:r>
            <a:r>
              <a:rPr lang="en-US" b="true" sz="2500" spc="-92" strike="noStrike" u="none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NM</a:t>
            </a:r>
            <a:r>
              <a:rPr lang="en-US" b="true" sz="2500" spc="-92" strike="noStrike" u="none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</a:t>
            </a:r>
            <a:r>
              <a:rPr lang="en-US" b="true" sz="2500" spc="-92" strike="noStrike" u="none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NT</a:t>
            </a:r>
          </a:p>
          <a:p>
            <a:pPr algn="ctr" marL="0" indent="0" lvl="1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973322" y="3982609"/>
            <a:ext cx="4341356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-88" strike="noStrike" u="none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PROBLEM STATEMENT</a:t>
            </a:r>
          </a:p>
          <a:p>
            <a:pPr algn="ctr" marL="0" indent="0" lvl="1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2254617" y="4652560"/>
            <a:ext cx="4475827" cy="421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The Smart Water Usage Advisor is an A</a:t>
            </a:r>
            <a:r>
              <a:rPr lang="en-US" sz="2000" spc="-74" strike="noStrike" u="none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I-powered assistant that:</a:t>
            </a:r>
          </a:p>
          <a:p>
            <a:pPr algn="ctr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74" strike="noStrike" u="none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Answers water-related questions</a:t>
            </a:r>
          </a:p>
          <a:p>
            <a:pPr algn="ctr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74" strike="noStrike" u="none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Uses verified documents as its knowledge source</a:t>
            </a:r>
          </a:p>
          <a:p>
            <a:pPr algn="ctr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74" strike="noStrike" u="none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Provides simple, factual, and reliable guidance</a:t>
            </a:r>
          </a:p>
          <a:p>
            <a:pPr algn="ctr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74" strike="noStrike" u="none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Prevents misinformation t</a:t>
            </a:r>
            <a:r>
              <a:rPr lang="en-US" sz="2000" spc="-74" strike="noStrike" u="none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hr</a:t>
            </a:r>
            <a:r>
              <a:rPr lang="en-US" sz="2000" spc="-74" strike="noStrike" u="none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ough document-ba</a:t>
            </a:r>
            <a:r>
              <a:rPr lang="en-US" sz="2000" spc="-74" strike="noStrike" u="none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se</a:t>
            </a:r>
            <a:r>
              <a:rPr lang="en-US" sz="2000" spc="-74" strike="noStrike" u="none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d responses</a:t>
            </a:r>
          </a:p>
          <a:p>
            <a:pPr algn="ctr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74" strike="noStrike" u="none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Supports sustainable water usage practices</a:t>
            </a:r>
          </a:p>
          <a:p>
            <a:pPr algn="ctr" marL="0" indent="0" lvl="1">
              <a:lnSpc>
                <a:spcPts val="2800"/>
              </a:lnSpc>
              <a:spcBef>
                <a:spcPct val="0"/>
              </a:spcBef>
            </a:pPr>
            <a:r>
              <a:rPr lang="en-US" sz="2000" spc="-74" strike="noStrike" u="none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79291" y="3982609"/>
            <a:ext cx="402647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359"/>
              </a:lnSpc>
              <a:spcBef>
                <a:spcPct val="0"/>
              </a:spcBef>
            </a:pPr>
            <a:r>
              <a:rPr lang="en-US" b="true" sz="2400" spc="-88" strike="noStrike" u="none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SOLUTION OVERVIEW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07092" y="1245745"/>
            <a:ext cx="12121367" cy="1053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29"/>
              </a:lnSpc>
            </a:pPr>
            <a:r>
              <a:rPr lang="en-US" b="true" sz="7390" spc="-273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PROJECT DESCRIPTION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64113" y="3125385"/>
            <a:ext cx="2271857" cy="78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49"/>
              </a:lnSpc>
            </a:pPr>
            <a:r>
              <a:rPr lang="en-US" sz="5499" spc="-2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08071" y="3125385"/>
            <a:ext cx="2271857" cy="78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49"/>
              </a:lnSpc>
            </a:pPr>
            <a:r>
              <a:rPr lang="en-US" sz="5499" spc="-2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56602" y="3125385"/>
            <a:ext cx="2271857" cy="78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49"/>
              </a:lnSpc>
            </a:pPr>
            <a:r>
              <a:rPr lang="en-US" sz="5499" spc="-2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0964" y="4652560"/>
            <a:ext cx="4579113" cy="492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 spc="-74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Primary SDG:</a:t>
            </a:r>
          </a:p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SDG</a:t>
            </a: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6 – Clean Water and Sanitation</a:t>
            </a:r>
          </a:p>
          <a:p>
            <a:pPr algn="ctr">
              <a:lnSpc>
                <a:spcPts val="2800"/>
              </a:lnSpc>
            </a:pPr>
            <a:r>
              <a:rPr lang="en-US" b="true" sz="2000" spc="-74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Secondary SDG:</a:t>
            </a:r>
          </a:p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SDG 12 – Responsible Consumption and Production</a:t>
            </a:r>
          </a:p>
          <a:p>
            <a:pPr algn="ctr">
              <a:lnSpc>
                <a:spcPts val="2800"/>
              </a:lnSpc>
            </a:pPr>
            <a:r>
              <a:rPr lang="en-US" b="true" sz="2000" spc="-74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SDG 6?</a:t>
            </a:r>
          </a:p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Ensures availability and sustainable management of water</a:t>
            </a:r>
          </a:p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Directly related to household and community water usage</a:t>
            </a:r>
          </a:p>
          <a:p>
            <a:pPr algn="ctr">
              <a:lnSpc>
                <a:spcPts val="2800"/>
              </a:lnSpc>
            </a:pPr>
          </a:p>
          <a:p>
            <a:pPr algn="ctr">
              <a:lnSpc>
                <a:spcPts val="2800"/>
              </a:lnSpc>
            </a:pPr>
          </a:p>
          <a:p>
            <a:pPr algn="ctr">
              <a:lnSpc>
                <a:spcPts val="280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6581142" y="4513263"/>
            <a:ext cx="4823010" cy="492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Water is</a:t>
            </a: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wasted due to:</a:t>
            </a:r>
          </a:p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Lack of awareness</a:t>
            </a:r>
          </a:p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Poor access to water conservation guidelines</a:t>
            </a:r>
          </a:p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Difficulty understanding policy documents</a:t>
            </a:r>
          </a:p>
          <a:p>
            <a:pPr algn="ctr">
              <a:lnSpc>
                <a:spcPts val="2800"/>
              </a:lnSpc>
            </a:pPr>
            <a:r>
              <a:rPr lang="en-US" b="true" sz="2000" spc="-74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Statement:</a:t>
            </a:r>
          </a:p>
          <a:p>
            <a:pPr algn="ctr">
              <a:lnSpc>
                <a:spcPts val="2800"/>
              </a:lnSpc>
            </a:pP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How might we use AI to provide accurate and easy-to-understand water conservation guidance so that communities can reduce water wastage and adopt sustainable practices?</a:t>
            </a:r>
          </a:p>
          <a:p>
            <a:pPr algn="ctr">
              <a:lnSpc>
                <a:spcPts val="2800"/>
              </a:lnSpc>
            </a:pPr>
          </a:p>
          <a:p>
            <a:pPr algn="ctr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0278" y="2937729"/>
            <a:ext cx="5152354" cy="6043011"/>
            <a:chOff x="0" y="0"/>
            <a:chExt cx="1356999" cy="1591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56999" cy="1591575"/>
            </a:xfrm>
            <a:custGeom>
              <a:avLst/>
              <a:gdLst/>
              <a:ahLst/>
              <a:cxnLst/>
              <a:rect r="r" b="b" t="t" l="l"/>
              <a:pathLst>
                <a:path h="1591575" w="1356999">
                  <a:moveTo>
                    <a:pt x="22539" y="0"/>
                  </a:moveTo>
                  <a:lnTo>
                    <a:pt x="1334460" y="0"/>
                  </a:lnTo>
                  <a:cubicBezTo>
                    <a:pt x="1346908" y="0"/>
                    <a:pt x="1356999" y="10091"/>
                    <a:pt x="1356999" y="22539"/>
                  </a:cubicBezTo>
                  <a:lnTo>
                    <a:pt x="1356999" y="1569036"/>
                  </a:lnTo>
                  <a:cubicBezTo>
                    <a:pt x="1356999" y="1581484"/>
                    <a:pt x="1346908" y="1591575"/>
                    <a:pt x="1334460" y="1591575"/>
                  </a:cubicBezTo>
                  <a:lnTo>
                    <a:pt x="22539" y="1591575"/>
                  </a:lnTo>
                  <a:cubicBezTo>
                    <a:pt x="10091" y="1591575"/>
                    <a:pt x="0" y="1581484"/>
                    <a:pt x="0" y="1569036"/>
                  </a:cubicBezTo>
                  <a:lnTo>
                    <a:pt x="0" y="22539"/>
                  </a:lnTo>
                  <a:cubicBezTo>
                    <a:pt x="0" y="10091"/>
                    <a:pt x="10091" y="0"/>
                    <a:pt x="22539" y="0"/>
                  </a:cubicBezTo>
                  <a:close/>
                </a:path>
              </a:pathLst>
            </a:custGeom>
            <a:solidFill>
              <a:srgbClr val="D4E84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56999" cy="163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18589" y="2937729"/>
            <a:ext cx="5180029" cy="6043011"/>
            <a:chOff x="0" y="0"/>
            <a:chExt cx="1364288" cy="15915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64287" cy="1591575"/>
            </a:xfrm>
            <a:custGeom>
              <a:avLst/>
              <a:gdLst/>
              <a:ahLst/>
              <a:cxnLst/>
              <a:rect r="r" b="b" t="t" l="l"/>
              <a:pathLst>
                <a:path h="1591575" w="1364287">
                  <a:moveTo>
                    <a:pt x="22419" y="0"/>
                  </a:moveTo>
                  <a:lnTo>
                    <a:pt x="1341869" y="0"/>
                  </a:lnTo>
                  <a:cubicBezTo>
                    <a:pt x="1354250" y="0"/>
                    <a:pt x="1364287" y="10037"/>
                    <a:pt x="1364287" y="22419"/>
                  </a:cubicBezTo>
                  <a:lnTo>
                    <a:pt x="1364287" y="1569156"/>
                  </a:lnTo>
                  <a:cubicBezTo>
                    <a:pt x="1364287" y="1575102"/>
                    <a:pt x="1361925" y="1580804"/>
                    <a:pt x="1357721" y="1585009"/>
                  </a:cubicBezTo>
                  <a:cubicBezTo>
                    <a:pt x="1353517" y="1589213"/>
                    <a:pt x="1347815" y="1591575"/>
                    <a:pt x="1341869" y="1591575"/>
                  </a:cubicBezTo>
                  <a:lnTo>
                    <a:pt x="22419" y="1591575"/>
                  </a:lnTo>
                  <a:cubicBezTo>
                    <a:pt x="16473" y="1591575"/>
                    <a:pt x="10771" y="1589213"/>
                    <a:pt x="6566" y="1585009"/>
                  </a:cubicBezTo>
                  <a:cubicBezTo>
                    <a:pt x="2362" y="1580804"/>
                    <a:pt x="0" y="1575102"/>
                    <a:pt x="0" y="1569156"/>
                  </a:cubicBezTo>
                  <a:lnTo>
                    <a:pt x="0" y="22419"/>
                  </a:lnTo>
                  <a:cubicBezTo>
                    <a:pt x="0" y="16473"/>
                    <a:pt x="2362" y="10771"/>
                    <a:pt x="6566" y="6566"/>
                  </a:cubicBezTo>
                  <a:cubicBezTo>
                    <a:pt x="10771" y="2362"/>
                    <a:pt x="16473" y="0"/>
                    <a:pt x="22419" y="0"/>
                  </a:cubicBezTo>
                  <a:close/>
                </a:path>
              </a:pathLst>
            </a:custGeom>
            <a:solidFill>
              <a:srgbClr val="D4E84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364288" cy="163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14575" y="2937729"/>
            <a:ext cx="4955911" cy="6043011"/>
            <a:chOff x="0" y="0"/>
            <a:chExt cx="1305261" cy="15915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05261" cy="1591575"/>
            </a:xfrm>
            <a:custGeom>
              <a:avLst/>
              <a:gdLst/>
              <a:ahLst/>
              <a:cxnLst/>
              <a:rect r="r" b="b" t="t" l="l"/>
              <a:pathLst>
                <a:path h="1591575" w="1305261">
                  <a:moveTo>
                    <a:pt x="23432" y="0"/>
                  </a:moveTo>
                  <a:lnTo>
                    <a:pt x="1281828" y="0"/>
                  </a:lnTo>
                  <a:cubicBezTo>
                    <a:pt x="1294770" y="0"/>
                    <a:pt x="1305261" y="10491"/>
                    <a:pt x="1305261" y="23432"/>
                  </a:cubicBezTo>
                  <a:lnTo>
                    <a:pt x="1305261" y="1568143"/>
                  </a:lnTo>
                  <a:cubicBezTo>
                    <a:pt x="1305261" y="1581084"/>
                    <a:pt x="1294770" y="1591575"/>
                    <a:pt x="1281828" y="1591575"/>
                  </a:cubicBezTo>
                  <a:lnTo>
                    <a:pt x="23432" y="1591575"/>
                  </a:lnTo>
                  <a:cubicBezTo>
                    <a:pt x="10491" y="1591575"/>
                    <a:pt x="0" y="1581084"/>
                    <a:pt x="0" y="1568143"/>
                  </a:cubicBezTo>
                  <a:lnTo>
                    <a:pt x="0" y="23432"/>
                  </a:lnTo>
                  <a:cubicBezTo>
                    <a:pt x="0" y="10491"/>
                    <a:pt x="10491" y="0"/>
                    <a:pt x="23432" y="0"/>
                  </a:cubicBezTo>
                  <a:close/>
                </a:path>
              </a:pathLst>
            </a:custGeom>
            <a:solidFill>
              <a:srgbClr val="D4E84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305261" cy="163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655777" y="4049310"/>
            <a:ext cx="434135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500"/>
              </a:lnSpc>
              <a:spcBef>
                <a:spcPct val="0"/>
              </a:spcBef>
            </a:pPr>
            <a:r>
              <a:rPr lang="en-US" b="true" sz="2500" spc="-92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</a:t>
            </a:r>
            <a:r>
              <a:rPr lang="en-US" b="true" sz="2500" spc="-92" strike="noStrike" u="none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ARGE</a:t>
            </a:r>
            <a:r>
              <a:rPr lang="en-US" b="true" sz="2500" spc="-92" strike="noStrike" u="none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 USERS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05077" y="3952129"/>
            <a:ext cx="4825296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359"/>
              </a:lnSpc>
              <a:spcBef>
                <a:spcPct val="0"/>
              </a:spcBef>
            </a:pPr>
            <a:r>
              <a:rPr lang="en-US" b="true" sz="2400" spc="-88" strike="noStrike" u="none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RESPONSIBLE AI CONSIDERATIONS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54617" y="4652560"/>
            <a:ext cx="4475827" cy="351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Reduced water wastage in households and h</a:t>
            </a:r>
            <a:r>
              <a:rPr lang="en-US" sz="2000" spc="-74" strike="noStrike" u="none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ostels</a:t>
            </a:r>
          </a:p>
          <a:p>
            <a:pPr algn="ctr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74" strike="noStrike" u="none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Increased awareness of water conservation practices</a:t>
            </a:r>
          </a:p>
          <a:p>
            <a:pPr algn="ctr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74" strike="noStrike" u="none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Imp</a:t>
            </a:r>
            <a:r>
              <a:rPr lang="en-US" sz="2000" spc="-74" strike="noStrike" u="none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roved access to reliable sustainability information</a:t>
            </a:r>
          </a:p>
          <a:p>
            <a:pPr algn="ctr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74" strike="noStrike" u="none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Contribution towards achieving SDG 6 – Clean Water and Sanitation</a:t>
            </a:r>
          </a:p>
          <a:p>
            <a:pPr algn="ctr" marL="0" indent="0" lvl="1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2479291" y="3982609"/>
            <a:ext cx="402647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359"/>
              </a:lnSpc>
              <a:spcBef>
                <a:spcPct val="0"/>
              </a:spcBef>
            </a:pPr>
            <a:r>
              <a:rPr lang="en-US" b="true" sz="2400" spc="-88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EXPECTED</a:t>
            </a:r>
            <a:r>
              <a:rPr lang="en-US" b="true" sz="2400" spc="-88" strike="noStrike" u="none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IMPACT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07092" y="1245745"/>
            <a:ext cx="12121367" cy="1053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29"/>
              </a:lnSpc>
            </a:pPr>
            <a:r>
              <a:rPr lang="en-US" b="true" sz="7390" spc="-273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PROJECT DESCRIPTION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64113" y="3125385"/>
            <a:ext cx="2271857" cy="78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49"/>
              </a:lnSpc>
            </a:pPr>
            <a:r>
              <a:rPr lang="en-US" sz="5499" spc="-2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08071" y="3125385"/>
            <a:ext cx="2271857" cy="78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49"/>
              </a:lnSpc>
            </a:pPr>
            <a:r>
              <a:rPr lang="en-US" sz="5499" spc="-2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56602" y="3125385"/>
            <a:ext cx="2271857" cy="78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49"/>
              </a:lnSpc>
            </a:pPr>
            <a:r>
              <a:rPr lang="en-US" sz="5499" spc="-2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7483" y="4871851"/>
            <a:ext cx="5351844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Students</a:t>
            </a: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living in hostels</a:t>
            </a:r>
          </a:p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rban households</a:t>
            </a:r>
          </a:p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Rural communities</a:t>
            </a:r>
          </a:p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Apartment associations</a:t>
            </a:r>
          </a:p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General public seeking water conservation guidance</a:t>
            </a:r>
          </a:p>
          <a:p>
            <a:pPr algn="ctr">
              <a:lnSpc>
                <a:spcPts val="280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6905077" y="4871851"/>
            <a:ext cx="4823010" cy="315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Fai</a:t>
            </a: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rness: Provides equal access to information for all users</a:t>
            </a:r>
          </a:p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Transparen</a:t>
            </a: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cy: Answers are generated using verified documents</a:t>
            </a:r>
          </a:p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hics</a:t>
            </a: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Avoids misleading or harmful suggestions</a:t>
            </a:r>
          </a:p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74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Privacy: No personal or sensitive data is collected</a:t>
            </a:r>
          </a:p>
          <a:p>
            <a:pPr algn="ctr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5604" y="1622116"/>
            <a:ext cx="12829759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029"/>
              </a:lnSpc>
              <a:spcBef>
                <a:spcPct val="0"/>
              </a:spcBef>
            </a:pPr>
            <a:r>
              <a:rPr lang="en-US" b="true" sz="7299" spc="-270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PROTOTYPE  WORKFLOW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14472" y="3326964"/>
            <a:ext cx="6610940" cy="4459380"/>
          </a:xfrm>
          <a:custGeom>
            <a:avLst/>
            <a:gdLst/>
            <a:ahLst/>
            <a:cxnLst/>
            <a:rect r="r" b="b" t="t" l="l"/>
            <a:pathLst>
              <a:path h="4459380" w="6610940">
                <a:moveTo>
                  <a:pt x="0" y="0"/>
                </a:moveTo>
                <a:lnTo>
                  <a:pt x="6610940" y="0"/>
                </a:lnTo>
                <a:lnTo>
                  <a:pt x="6610940" y="4459379"/>
                </a:lnTo>
                <a:lnTo>
                  <a:pt x="0" y="4459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78000" y="4307654"/>
            <a:ext cx="5782484" cy="3590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0094" indent="-245047" lvl="1">
              <a:lnSpc>
                <a:spcPts val="3178"/>
              </a:lnSpc>
              <a:buFont typeface="Arial"/>
              <a:buChar char="•"/>
            </a:pPr>
            <a:r>
              <a:rPr lang="en-US" sz="2270" spc="-8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Us</a:t>
            </a:r>
            <a:r>
              <a:rPr lang="en-US" sz="2270" spc="-8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er enters a water-related question</a:t>
            </a:r>
          </a:p>
          <a:p>
            <a:pPr algn="just" marL="490094" indent="-245047" lvl="1">
              <a:lnSpc>
                <a:spcPts val="3178"/>
              </a:lnSpc>
              <a:buFont typeface="Arial"/>
              <a:buChar char="•"/>
            </a:pPr>
            <a:r>
              <a:rPr lang="en-US" sz="2270" spc="-8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The</a:t>
            </a:r>
            <a:r>
              <a:rPr lang="en-US" sz="2270" spc="-8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query is converted into an AI-readable format</a:t>
            </a:r>
          </a:p>
          <a:p>
            <a:pPr algn="just" marL="490094" indent="-245047" lvl="1">
              <a:lnSpc>
                <a:spcPts val="3178"/>
              </a:lnSpc>
              <a:buFont typeface="Arial"/>
              <a:buChar char="•"/>
            </a:pPr>
            <a:r>
              <a:rPr lang="en-US" sz="2270" spc="-8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Relevant information is retrieved from verified documents</a:t>
            </a:r>
          </a:p>
          <a:p>
            <a:pPr algn="just" marL="490094" indent="-245047" lvl="1">
              <a:lnSpc>
                <a:spcPts val="3178"/>
              </a:lnSpc>
              <a:buFont typeface="Arial"/>
              <a:buChar char="•"/>
            </a:pPr>
            <a:r>
              <a:rPr lang="en-US" sz="2270" spc="-8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Retrieved co</a:t>
            </a:r>
            <a:r>
              <a:rPr lang="en-US" sz="2270" spc="-8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nt</a:t>
            </a:r>
            <a:r>
              <a:rPr lang="en-US" sz="2270" spc="-8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ent is filtered for accuracy and relevance</a:t>
            </a:r>
          </a:p>
          <a:p>
            <a:pPr algn="just">
              <a:lnSpc>
                <a:spcPts val="3178"/>
              </a:lnSpc>
            </a:pPr>
          </a:p>
          <a:p>
            <a:pPr algn="just">
              <a:lnSpc>
                <a:spcPts val="3178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14176" y="3772089"/>
            <a:ext cx="5446308" cy="92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93"/>
              </a:lnSpc>
            </a:pPr>
            <a:r>
              <a:rPr lang="en-US" b="true" sz="2709" spc="-100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THE SYSTEM WORKS</a:t>
            </a:r>
          </a:p>
          <a:p>
            <a:pPr algn="just">
              <a:lnSpc>
                <a:spcPts val="3793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true" flipV="false" rot="-831386">
            <a:off x="12047004" y="627584"/>
            <a:ext cx="6651554" cy="5913836"/>
          </a:xfrm>
          <a:custGeom>
            <a:avLst/>
            <a:gdLst/>
            <a:ahLst/>
            <a:cxnLst/>
            <a:rect r="r" b="b" t="t" l="l"/>
            <a:pathLst>
              <a:path h="5913836" w="6651554">
                <a:moveTo>
                  <a:pt x="6651554" y="0"/>
                </a:moveTo>
                <a:lnTo>
                  <a:pt x="0" y="0"/>
                </a:lnTo>
                <a:lnTo>
                  <a:pt x="0" y="5913837"/>
                </a:lnTo>
                <a:lnTo>
                  <a:pt x="6651554" y="5913837"/>
                </a:lnTo>
                <a:lnTo>
                  <a:pt x="6651554" y="0"/>
                </a:lnTo>
                <a:close/>
              </a:path>
            </a:pathLst>
          </a:custGeom>
          <a:blipFill>
            <a:blip r:embed="rId4">
              <a:alphaModFix amt="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true" flipV="false" rot="-831386">
            <a:off x="11992813" y="407894"/>
            <a:ext cx="6651554" cy="5913836"/>
          </a:xfrm>
          <a:custGeom>
            <a:avLst/>
            <a:gdLst/>
            <a:ahLst/>
            <a:cxnLst/>
            <a:rect r="r" b="b" t="t" l="l"/>
            <a:pathLst>
              <a:path h="5913836" w="6651554">
                <a:moveTo>
                  <a:pt x="6651554" y="0"/>
                </a:moveTo>
                <a:lnTo>
                  <a:pt x="0" y="0"/>
                </a:lnTo>
                <a:lnTo>
                  <a:pt x="0" y="5913837"/>
                </a:lnTo>
                <a:lnTo>
                  <a:pt x="6651554" y="5913837"/>
                </a:lnTo>
                <a:lnTo>
                  <a:pt x="665155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238335">
            <a:off x="15713905" y="583661"/>
            <a:ext cx="1372696" cy="1586099"/>
          </a:xfrm>
          <a:custGeom>
            <a:avLst/>
            <a:gdLst/>
            <a:ahLst/>
            <a:cxnLst/>
            <a:rect r="r" b="b" t="t" l="l"/>
            <a:pathLst>
              <a:path h="1586099" w="1372696">
                <a:moveTo>
                  <a:pt x="0" y="0"/>
                </a:moveTo>
                <a:lnTo>
                  <a:pt x="1372697" y="0"/>
                </a:lnTo>
                <a:lnTo>
                  <a:pt x="1372697" y="1586099"/>
                </a:lnTo>
                <a:lnTo>
                  <a:pt x="0" y="15860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75975" y="5335911"/>
            <a:ext cx="6610940" cy="4459380"/>
          </a:xfrm>
          <a:custGeom>
            <a:avLst/>
            <a:gdLst/>
            <a:ahLst/>
            <a:cxnLst/>
            <a:rect r="r" b="b" t="t" l="l"/>
            <a:pathLst>
              <a:path h="4459380" w="6610940">
                <a:moveTo>
                  <a:pt x="0" y="0"/>
                </a:moveTo>
                <a:lnTo>
                  <a:pt x="6610940" y="0"/>
                </a:lnTo>
                <a:lnTo>
                  <a:pt x="6610940" y="4459380"/>
                </a:lnTo>
                <a:lnTo>
                  <a:pt x="0" y="4459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688170" y="6079050"/>
            <a:ext cx="5494930" cy="279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0094" indent="-245047" lvl="1">
              <a:lnSpc>
                <a:spcPts val="3178"/>
              </a:lnSpc>
              <a:buFont typeface="Arial"/>
              <a:buChar char="•"/>
            </a:pPr>
            <a:r>
              <a:rPr lang="en-US" sz="2270" spc="-8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AI processes the retrieved information</a:t>
            </a:r>
          </a:p>
          <a:p>
            <a:pPr algn="l" marL="490094" indent="-245047" lvl="1">
              <a:lnSpc>
                <a:spcPts val="3178"/>
              </a:lnSpc>
              <a:buFont typeface="Arial"/>
              <a:buChar char="•"/>
            </a:pPr>
            <a:r>
              <a:rPr lang="en-US" sz="2270" spc="-8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AI generates a clear and factual response</a:t>
            </a:r>
          </a:p>
          <a:p>
            <a:pPr algn="l" marL="490094" indent="-245047" lvl="1">
              <a:lnSpc>
                <a:spcPts val="3178"/>
              </a:lnSpc>
              <a:buFont typeface="Arial"/>
              <a:buChar char="•"/>
            </a:pPr>
            <a:r>
              <a:rPr lang="en-US" sz="2270" spc="-8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Response is based only on document evidence</a:t>
            </a:r>
          </a:p>
          <a:p>
            <a:pPr algn="l" marL="490094" indent="-245047" lvl="1">
              <a:lnSpc>
                <a:spcPts val="3178"/>
              </a:lnSpc>
              <a:buFont typeface="Arial"/>
              <a:buChar char="•"/>
            </a:pPr>
            <a:r>
              <a:rPr lang="en-US" sz="2270" spc="-8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Final answer is displayed to the user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04647" y="2590728"/>
            <a:ext cx="9330989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99"/>
              </a:lnSpc>
              <a:spcBef>
                <a:spcPct val="0"/>
              </a:spcBef>
            </a:pPr>
            <a:r>
              <a:rPr lang="en-US" b="true" sz="6999" spc="-258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ROLE OF AI (RAG)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4798920"/>
            <a:ext cx="6610940" cy="4459380"/>
          </a:xfrm>
          <a:custGeom>
            <a:avLst/>
            <a:gdLst/>
            <a:ahLst/>
            <a:cxnLst/>
            <a:rect r="r" b="b" t="t" l="l"/>
            <a:pathLst>
              <a:path h="4459380" w="6610940">
                <a:moveTo>
                  <a:pt x="0" y="0"/>
                </a:moveTo>
                <a:lnTo>
                  <a:pt x="6610940" y="0"/>
                </a:lnTo>
                <a:lnTo>
                  <a:pt x="6610940" y="4459380"/>
                </a:lnTo>
                <a:lnTo>
                  <a:pt x="0" y="4459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22411" y="6304504"/>
            <a:ext cx="4975661" cy="2122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4"/>
              </a:lnSpc>
            </a:pPr>
            <a:r>
              <a:rPr lang="en-US" sz="2467" spc="-9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467" spc="-9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etrieval-Augmented Generation combines:</a:t>
            </a:r>
          </a:p>
          <a:p>
            <a:pPr algn="just" marL="532733" indent="-266367" lvl="1">
              <a:lnSpc>
                <a:spcPts val="3454"/>
              </a:lnSpc>
              <a:buFont typeface="Arial"/>
              <a:buChar char="•"/>
            </a:pPr>
            <a:r>
              <a:rPr lang="en-US" sz="2467" spc="-9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Information retrieval</a:t>
            </a:r>
          </a:p>
          <a:p>
            <a:pPr algn="just" marL="532733" indent="-266367" lvl="1">
              <a:lnSpc>
                <a:spcPts val="3454"/>
              </a:lnSpc>
              <a:buFont typeface="Arial"/>
              <a:buChar char="•"/>
            </a:pPr>
            <a:r>
              <a:rPr lang="en-US" sz="2467" spc="-9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AI-based response generation</a:t>
            </a:r>
          </a:p>
          <a:p>
            <a:pPr algn="just">
              <a:lnSpc>
                <a:spcPts val="303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622411" y="5652433"/>
            <a:ext cx="5446308" cy="453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93"/>
              </a:lnSpc>
            </a:pPr>
            <a:r>
              <a:rPr lang="en-US" b="true" sz="2709" spc="-100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IS  RAG?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064580" y="4798920"/>
            <a:ext cx="6610940" cy="4459380"/>
          </a:xfrm>
          <a:custGeom>
            <a:avLst/>
            <a:gdLst/>
            <a:ahLst/>
            <a:cxnLst/>
            <a:rect r="r" b="b" t="t" l="l"/>
            <a:pathLst>
              <a:path h="4459380" w="6610940">
                <a:moveTo>
                  <a:pt x="0" y="0"/>
                </a:moveTo>
                <a:lnTo>
                  <a:pt x="6610940" y="0"/>
                </a:lnTo>
                <a:lnTo>
                  <a:pt x="6610940" y="4459380"/>
                </a:lnTo>
                <a:lnTo>
                  <a:pt x="0" y="4459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8658291" y="6105389"/>
            <a:ext cx="4617073" cy="2560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2733" indent="-266367" lvl="1">
              <a:lnSpc>
                <a:spcPts val="3454"/>
              </a:lnSpc>
              <a:buFont typeface="Arial"/>
              <a:buChar char="•"/>
            </a:pPr>
            <a:r>
              <a:rPr lang="en-US" sz="2467" spc="-9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2467" spc="-9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revents false answers</a:t>
            </a:r>
          </a:p>
          <a:p>
            <a:pPr algn="just" marL="532733" indent="-266367" lvl="1">
              <a:lnSpc>
                <a:spcPts val="3454"/>
              </a:lnSpc>
              <a:buFont typeface="Arial"/>
              <a:buChar char="•"/>
            </a:pPr>
            <a:r>
              <a:rPr lang="en-US" sz="2467" spc="-9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Uses trusted documents only</a:t>
            </a:r>
          </a:p>
          <a:p>
            <a:pPr algn="just" marL="532733" indent="-266367" lvl="1">
              <a:lnSpc>
                <a:spcPts val="3454"/>
              </a:lnSpc>
              <a:buFont typeface="Arial"/>
              <a:buChar char="•"/>
            </a:pPr>
            <a:r>
              <a:rPr lang="en-US" sz="2467" spc="-91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Ensures transparency and responsibility</a:t>
            </a:r>
          </a:p>
          <a:p>
            <a:pPr algn="just">
              <a:lnSpc>
                <a:spcPts val="303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658291" y="5448218"/>
            <a:ext cx="5446308" cy="453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93"/>
              </a:lnSpc>
            </a:pPr>
            <a:r>
              <a:rPr lang="en-US" b="true" sz="2709" spc="-100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R</a:t>
            </a:r>
            <a:r>
              <a:rPr lang="en-US" b="true" sz="2709" spc="-100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AG?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-831386">
            <a:off x="12047004" y="627584"/>
            <a:ext cx="6651554" cy="5913836"/>
          </a:xfrm>
          <a:custGeom>
            <a:avLst/>
            <a:gdLst/>
            <a:ahLst/>
            <a:cxnLst/>
            <a:rect r="r" b="b" t="t" l="l"/>
            <a:pathLst>
              <a:path h="5913836" w="6651554">
                <a:moveTo>
                  <a:pt x="6651554" y="0"/>
                </a:moveTo>
                <a:lnTo>
                  <a:pt x="0" y="0"/>
                </a:lnTo>
                <a:lnTo>
                  <a:pt x="0" y="5913837"/>
                </a:lnTo>
                <a:lnTo>
                  <a:pt x="6651554" y="5913837"/>
                </a:lnTo>
                <a:lnTo>
                  <a:pt x="6651554" y="0"/>
                </a:lnTo>
                <a:close/>
              </a:path>
            </a:pathLst>
          </a:custGeom>
          <a:blipFill>
            <a:blip r:embed="rId4">
              <a:alphaModFix amt="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true" flipV="false" rot="-831386">
            <a:off x="11992813" y="407894"/>
            <a:ext cx="6651554" cy="5913836"/>
          </a:xfrm>
          <a:custGeom>
            <a:avLst/>
            <a:gdLst/>
            <a:ahLst/>
            <a:cxnLst/>
            <a:rect r="r" b="b" t="t" l="l"/>
            <a:pathLst>
              <a:path h="5913836" w="6651554">
                <a:moveTo>
                  <a:pt x="6651554" y="0"/>
                </a:moveTo>
                <a:lnTo>
                  <a:pt x="0" y="0"/>
                </a:lnTo>
                <a:lnTo>
                  <a:pt x="0" y="5913837"/>
                </a:lnTo>
                <a:lnTo>
                  <a:pt x="6651554" y="5913837"/>
                </a:lnTo>
                <a:lnTo>
                  <a:pt x="665155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238335">
            <a:off x="15713905" y="583661"/>
            <a:ext cx="1372696" cy="1586099"/>
          </a:xfrm>
          <a:custGeom>
            <a:avLst/>
            <a:gdLst/>
            <a:ahLst/>
            <a:cxnLst/>
            <a:rect r="r" b="b" t="t" l="l"/>
            <a:pathLst>
              <a:path h="1586099" w="1372696">
                <a:moveTo>
                  <a:pt x="0" y="0"/>
                </a:moveTo>
                <a:lnTo>
                  <a:pt x="1372697" y="0"/>
                </a:lnTo>
                <a:lnTo>
                  <a:pt x="1372697" y="1586099"/>
                </a:lnTo>
                <a:lnTo>
                  <a:pt x="0" y="15860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4472" y="3326964"/>
            <a:ext cx="6610940" cy="4459380"/>
          </a:xfrm>
          <a:custGeom>
            <a:avLst/>
            <a:gdLst/>
            <a:ahLst/>
            <a:cxnLst/>
            <a:rect r="r" b="b" t="t" l="l"/>
            <a:pathLst>
              <a:path h="4459380" w="6610940">
                <a:moveTo>
                  <a:pt x="0" y="0"/>
                </a:moveTo>
                <a:lnTo>
                  <a:pt x="6610940" y="0"/>
                </a:lnTo>
                <a:lnTo>
                  <a:pt x="6610940" y="4459379"/>
                </a:lnTo>
                <a:lnTo>
                  <a:pt x="0" y="4459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831386">
            <a:off x="12047004" y="627584"/>
            <a:ext cx="6651554" cy="5913836"/>
          </a:xfrm>
          <a:custGeom>
            <a:avLst/>
            <a:gdLst/>
            <a:ahLst/>
            <a:cxnLst/>
            <a:rect r="r" b="b" t="t" l="l"/>
            <a:pathLst>
              <a:path h="5913836" w="6651554">
                <a:moveTo>
                  <a:pt x="6651554" y="0"/>
                </a:moveTo>
                <a:lnTo>
                  <a:pt x="0" y="0"/>
                </a:lnTo>
                <a:lnTo>
                  <a:pt x="0" y="5913837"/>
                </a:lnTo>
                <a:lnTo>
                  <a:pt x="6651554" y="5913837"/>
                </a:lnTo>
                <a:lnTo>
                  <a:pt x="6651554" y="0"/>
                </a:lnTo>
                <a:close/>
              </a:path>
            </a:pathLst>
          </a:custGeom>
          <a:blipFill>
            <a:blip r:embed="rId4">
              <a:alphaModFix amt="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-831386">
            <a:off x="11992813" y="407894"/>
            <a:ext cx="6651554" cy="5913836"/>
          </a:xfrm>
          <a:custGeom>
            <a:avLst/>
            <a:gdLst/>
            <a:ahLst/>
            <a:cxnLst/>
            <a:rect r="r" b="b" t="t" l="l"/>
            <a:pathLst>
              <a:path h="5913836" w="6651554">
                <a:moveTo>
                  <a:pt x="6651554" y="0"/>
                </a:moveTo>
                <a:lnTo>
                  <a:pt x="0" y="0"/>
                </a:lnTo>
                <a:lnTo>
                  <a:pt x="0" y="5913837"/>
                </a:lnTo>
                <a:lnTo>
                  <a:pt x="6651554" y="5913837"/>
                </a:lnTo>
                <a:lnTo>
                  <a:pt x="665155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238335">
            <a:off x="15713905" y="583661"/>
            <a:ext cx="1372696" cy="1586099"/>
          </a:xfrm>
          <a:custGeom>
            <a:avLst/>
            <a:gdLst/>
            <a:ahLst/>
            <a:cxnLst/>
            <a:rect r="r" b="b" t="t" l="l"/>
            <a:pathLst>
              <a:path h="1586099" w="1372696">
                <a:moveTo>
                  <a:pt x="0" y="0"/>
                </a:moveTo>
                <a:lnTo>
                  <a:pt x="1372697" y="0"/>
                </a:lnTo>
                <a:lnTo>
                  <a:pt x="1372697" y="1586099"/>
                </a:lnTo>
                <a:lnTo>
                  <a:pt x="0" y="15860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01821" y="5143500"/>
            <a:ext cx="6610940" cy="4459380"/>
          </a:xfrm>
          <a:custGeom>
            <a:avLst/>
            <a:gdLst/>
            <a:ahLst/>
            <a:cxnLst/>
            <a:rect r="r" b="b" t="t" l="l"/>
            <a:pathLst>
              <a:path h="4459380" w="6610940">
                <a:moveTo>
                  <a:pt x="0" y="0"/>
                </a:moveTo>
                <a:lnTo>
                  <a:pt x="6610940" y="0"/>
                </a:lnTo>
                <a:lnTo>
                  <a:pt x="6610940" y="4459380"/>
                </a:lnTo>
                <a:lnTo>
                  <a:pt x="0" y="4459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14472" y="848502"/>
            <a:ext cx="11182370" cy="196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99"/>
              </a:lnSpc>
              <a:spcBef>
                <a:spcPct val="0"/>
              </a:spcBef>
            </a:pPr>
            <a:r>
              <a:rPr lang="en-US" b="true" sz="6999" spc="-258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PROMPT WORKFLOW &amp; RAG DEMO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626" y="3764688"/>
            <a:ext cx="6062631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 spc="-92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PROMPT WORKFLOW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8626" y="4577737"/>
            <a:ext cx="5814780" cy="2659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68502" indent="-234251" lvl="1">
              <a:lnSpc>
                <a:spcPts val="3037"/>
              </a:lnSpc>
              <a:buFont typeface="Arial"/>
              <a:buChar char="•"/>
            </a:pPr>
            <a:r>
              <a:rPr lang="en-US" sz="2169" spc="-8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Us</a:t>
            </a:r>
            <a:r>
              <a:rPr lang="en-US" sz="2169" spc="-8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er enters a water-usage related question</a:t>
            </a:r>
          </a:p>
          <a:p>
            <a:pPr algn="just" marL="468502" indent="-234251" lvl="1">
              <a:lnSpc>
                <a:spcPts val="3037"/>
              </a:lnSpc>
              <a:buFont typeface="Arial"/>
              <a:buChar char="•"/>
            </a:pPr>
            <a:r>
              <a:rPr lang="en-US" sz="2169" spc="-8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Prompt is pre-processed by the AI agent</a:t>
            </a:r>
          </a:p>
          <a:p>
            <a:pPr algn="just" marL="468502" indent="-234251" lvl="1">
              <a:lnSpc>
                <a:spcPts val="3037"/>
              </a:lnSpc>
              <a:buFont typeface="Arial"/>
              <a:buChar char="•"/>
            </a:pPr>
            <a:r>
              <a:rPr lang="en-US" sz="2169" spc="-8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K</a:t>
            </a:r>
            <a:r>
              <a:rPr lang="en-US" sz="2169" spc="-8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ey intent and activity are identified</a:t>
            </a:r>
          </a:p>
          <a:p>
            <a:pPr algn="just" marL="468502" indent="-234251" lvl="1">
              <a:lnSpc>
                <a:spcPts val="3037"/>
              </a:lnSpc>
              <a:buFont typeface="Arial"/>
              <a:buChar char="•"/>
            </a:pPr>
            <a:r>
              <a:rPr lang="en-US" sz="2169" spc="-8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Query is sent to the RAG system</a:t>
            </a:r>
          </a:p>
          <a:p>
            <a:pPr algn="just" marL="468502" indent="-234251" lvl="1">
              <a:lnSpc>
                <a:spcPts val="3037"/>
              </a:lnSpc>
              <a:buFont typeface="Arial"/>
              <a:buChar char="•"/>
            </a:pPr>
            <a:r>
              <a:rPr lang="en-US" sz="2169" spc="-8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Co</a:t>
            </a:r>
            <a:r>
              <a:rPr lang="en-US" sz="2169" spc="-8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nt</a:t>
            </a:r>
            <a:r>
              <a:rPr lang="en-US" sz="2169" spc="-8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ext-aware prompt is generated</a:t>
            </a:r>
          </a:p>
          <a:p>
            <a:pPr algn="just">
              <a:lnSpc>
                <a:spcPts val="303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075975" y="6051777"/>
            <a:ext cx="6005822" cy="342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68502" indent="-234251" lvl="1">
              <a:lnSpc>
                <a:spcPts val="3037"/>
              </a:lnSpc>
              <a:buFont typeface="Arial"/>
              <a:buChar char="•"/>
            </a:pPr>
            <a:r>
              <a:rPr lang="en-US" sz="2169" spc="-8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Us</a:t>
            </a:r>
            <a:r>
              <a:rPr lang="en-US" sz="2169" spc="-8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er query triggers document retrieval</a:t>
            </a:r>
          </a:p>
          <a:p>
            <a:pPr algn="just" marL="468502" indent="-234251" lvl="1">
              <a:lnSpc>
                <a:spcPts val="3037"/>
              </a:lnSpc>
              <a:buFont typeface="Arial"/>
              <a:buChar char="•"/>
            </a:pPr>
            <a:r>
              <a:rPr lang="en-US" sz="2169" spc="-8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Relevant water-conservation documents are fetched</a:t>
            </a:r>
          </a:p>
          <a:p>
            <a:pPr algn="just" marL="468502" indent="-234251" lvl="1">
              <a:lnSpc>
                <a:spcPts val="3037"/>
              </a:lnSpc>
              <a:buFont typeface="Arial"/>
              <a:buChar char="•"/>
            </a:pPr>
            <a:r>
              <a:rPr lang="en-US" sz="2169" spc="-8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Retrieved content is combined with the user prompt</a:t>
            </a:r>
          </a:p>
          <a:p>
            <a:pPr algn="just" marL="468502" indent="-234251" lvl="1">
              <a:lnSpc>
                <a:spcPts val="3037"/>
              </a:lnSpc>
              <a:buFont typeface="Arial"/>
              <a:buChar char="•"/>
            </a:pPr>
            <a:r>
              <a:rPr lang="en-US" sz="2169" spc="-8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AI generates a</a:t>
            </a:r>
            <a:r>
              <a:rPr lang="en-US" sz="2169" spc="-8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2169" spc="-8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accurate, data-backed response</a:t>
            </a:r>
          </a:p>
          <a:p>
            <a:pPr algn="just" marL="468502" indent="-234251" lvl="1">
              <a:lnSpc>
                <a:spcPts val="3037"/>
              </a:lnSpc>
              <a:buFont typeface="Arial"/>
              <a:buChar char="•"/>
            </a:pPr>
            <a:r>
              <a:rPr lang="en-US" sz="2169" spc="-80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Output is displayed in chat interface</a:t>
            </a:r>
          </a:p>
          <a:p>
            <a:pPr algn="just">
              <a:lnSpc>
                <a:spcPts val="3037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075975" y="5518553"/>
            <a:ext cx="6062631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 spc="-92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RAG DEMO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8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31315">
            <a:off x="11300293" y="6047444"/>
            <a:ext cx="4915272" cy="1230253"/>
            <a:chOff x="0" y="0"/>
            <a:chExt cx="1826211" cy="4570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6211" cy="457086"/>
            </a:xfrm>
            <a:custGeom>
              <a:avLst/>
              <a:gdLst/>
              <a:ahLst/>
              <a:cxnLst/>
              <a:rect r="r" b="b" t="t" l="l"/>
              <a:pathLst>
                <a:path h="457086" w="1826211">
                  <a:moveTo>
                    <a:pt x="22051" y="0"/>
                  </a:moveTo>
                  <a:lnTo>
                    <a:pt x="1804160" y="0"/>
                  </a:lnTo>
                  <a:cubicBezTo>
                    <a:pt x="1816338" y="0"/>
                    <a:pt x="1826211" y="9873"/>
                    <a:pt x="1826211" y="22051"/>
                  </a:cubicBezTo>
                  <a:lnTo>
                    <a:pt x="1826211" y="435035"/>
                  </a:lnTo>
                  <a:cubicBezTo>
                    <a:pt x="1826211" y="447213"/>
                    <a:pt x="1816338" y="457086"/>
                    <a:pt x="1804160" y="457086"/>
                  </a:cubicBezTo>
                  <a:lnTo>
                    <a:pt x="22051" y="457086"/>
                  </a:lnTo>
                  <a:cubicBezTo>
                    <a:pt x="9873" y="457086"/>
                    <a:pt x="0" y="447213"/>
                    <a:pt x="0" y="435035"/>
                  </a:cubicBezTo>
                  <a:lnTo>
                    <a:pt x="0" y="22051"/>
                  </a:lnTo>
                  <a:cubicBezTo>
                    <a:pt x="0" y="9873"/>
                    <a:pt x="9873" y="0"/>
                    <a:pt x="22051" y="0"/>
                  </a:cubicBezTo>
                  <a:close/>
                </a:path>
              </a:pathLst>
            </a:custGeom>
            <a:solidFill>
              <a:srgbClr val="00010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6211" cy="495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31315">
            <a:off x="11219056" y="5943616"/>
            <a:ext cx="4915272" cy="1230253"/>
            <a:chOff x="0" y="0"/>
            <a:chExt cx="1826211" cy="4570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6211" cy="457086"/>
            </a:xfrm>
            <a:custGeom>
              <a:avLst/>
              <a:gdLst/>
              <a:ahLst/>
              <a:cxnLst/>
              <a:rect r="r" b="b" t="t" l="l"/>
              <a:pathLst>
                <a:path h="457086" w="1826211">
                  <a:moveTo>
                    <a:pt x="22051" y="0"/>
                  </a:moveTo>
                  <a:lnTo>
                    <a:pt x="1804160" y="0"/>
                  </a:lnTo>
                  <a:cubicBezTo>
                    <a:pt x="1816338" y="0"/>
                    <a:pt x="1826211" y="9873"/>
                    <a:pt x="1826211" y="22051"/>
                  </a:cubicBezTo>
                  <a:lnTo>
                    <a:pt x="1826211" y="435035"/>
                  </a:lnTo>
                  <a:cubicBezTo>
                    <a:pt x="1826211" y="447213"/>
                    <a:pt x="1816338" y="457086"/>
                    <a:pt x="1804160" y="457086"/>
                  </a:cubicBezTo>
                  <a:lnTo>
                    <a:pt x="22051" y="457086"/>
                  </a:lnTo>
                  <a:cubicBezTo>
                    <a:pt x="9873" y="457086"/>
                    <a:pt x="0" y="447213"/>
                    <a:pt x="0" y="435035"/>
                  </a:cubicBezTo>
                  <a:lnTo>
                    <a:pt x="0" y="22051"/>
                  </a:lnTo>
                  <a:cubicBezTo>
                    <a:pt x="0" y="9873"/>
                    <a:pt x="9873" y="0"/>
                    <a:pt x="22051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26211" cy="495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1528991">
            <a:off x="14305985" y="-760489"/>
            <a:ext cx="3948810" cy="4487284"/>
          </a:xfrm>
          <a:custGeom>
            <a:avLst/>
            <a:gdLst/>
            <a:ahLst/>
            <a:cxnLst/>
            <a:rect r="r" b="b" t="t" l="l"/>
            <a:pathLst>
              <a:path h="4487284" w="3948810">
                <a:moveTo>
                  <a:pt x="3948810" y="0"/>
                </a:moveTo>
                <a:lnTo>
                  <a:pt x="0" y="0"/>
                </a:lnTo>
                <a:lnTo>
                  <a:pt x="0" y="4487283"/>
                </a:lnTo>
                <a:lnTo>
                  <a:pt x="3948810" y="4487283"/>
                </a:lnTo>
                <a:lnTo>
                  <a:pt x="39488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01527">
            <a:off x="10151952" y="1010438"/>
            <a:ext cx="7130716" cy="4563658"/>
          </a:xfrm>
          <a:custGeom>
            <a:avLst/>
            <a:gdLst/>
            <a:ahLst/>
            <a:cxnLst/>
            <a:rect r="r" b="b" t="t" l="l"/>
            <a:pathLst>
              <a:path h="4563658" w="7130716">
                <a:moveTo>
                  <a:pt x="0" y="0"/>
                </a:moveTo>
                <a:lnTo>
                  <a:pt x="7130716" y="0"/>
                </a:lnTo>
                <a:lnTo>
                  <a:pt x="7130716" y="4563658"/>
                </a:lnTo>
                <a:lnTo>
                  <a:pt x="0" y="45636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-131315">
            <a:off x="11244820" y="5924339"/>
            <a:ext cx="4940019" cy="110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30"/>
              </a:lnSpc>
            </a:pPr>
            <a:r>
              <a:rPr lang="en-US" b="true" sz="6521" spc="-241">
                <a:solidFill>
                  <a:srgbClr val="000101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SOURCES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1734972">
            <a:off x="-492325" y="6675300"/>
            <a:ext cx="3549575" cy="4033608"/>
          </a:xfrm>
          <a:custGeom>
            <a:avLst/>
            <a:gdLst/>
            <a:ahLst/>
            <a:cxnLst/>
            <a:rect r="r" b="b" t="t" l="l"/>
            <a:pathLst>
              <a:path h="4033608" w="3549575">
                <a:moveTo>
                  <a:pt x="3549575" y="0"/>
                </a:moveTo>
                <a:lnTo>
                  <a:pt x="0" y="0"/>
                </a:lnTo>
                <a:lnTo>
                  <a:pt x="0" y="4033608"/>
                </a:lnTo>
                <a:lnTo>
                  <a:pt x="3549575" y="4033608"/>
                </a:lnTo>
                <a:lnTo>
                  <a:pt x="35495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02994" y="696912"/>
            <a:ext cx="12829759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500"/>
              </a:lnSpc>
              <a:spcBef>
                <a:spcPct val="0"/>
              </a:spcBef>
            </a:pPr>
            <a:r>
              <a:rPr lang="en-US" b="true" sz="5000" spc="-185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AGENT LOGIC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94698" y="1508655"/>
            <a:ext cx="6610940" cy="4459380"/>
          </a:xfrm>
          <a:custGeom>
            <a:avLst/>
            <a:gdLst/>
            <a:ahLst/>
            <a:cxnLst/>
            <a:rect r="r" b="b" t="t" l="l"/>
            <a:pathLst>
              <a:path h="4459380" w="6610940">
                <a:moveTo>
                  <a:pt x="0" y="0"/>
                </a:moveTo>
                <a:lnTo>
                  <a:pt x="6610940" y="0"/>
                </a:lnTo>
                <a:lnTo>
                  <a:pt x="6610940" y="4459379"/>
                </a:lnTo>
                <a:lnTo>
                  <a:pt x="0" y="44593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82462" y="1741700"/>
            <a:ext cx="5835412" cy="5026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1681" indent="-255841" lvl="1">
              <a:lnSpc>
                <a:spcPts val="3317"/>
              </a:lnSpc>
              <a:buFont typeface="Arial"/>
              <a:buChar char="•"/>
            </a:pPr>
            <a:r>
              <a:rPr lang="en-US" sz="2369" spc="-87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Us</a:t>
            </a:r>
            <a:r>
              <a:rPr lang="en-US" sz="2369" spc="-87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er submits a water-related query</a:t>
            </a:r>
          </a:p>
          <a:p>
            <a:pPr algn="just" marL="511681" indent="-255841" lvl="1">
              <a:lnSpc>
                <a:spcPts val="3317"/>
              </a:lnSpc>
              <a:buFont typeface="Arial"/>
              <a:buChar char="•"/>
            </a:pPr>
            <a:r>
              <a:rPr lang="en-US" sz="2369" spc="-87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Agent identifies user intent</a:t>
            </a:r>
          </a:p>
          <a:p>
            <a:pPr algn="just" marL="511681" indent="-255841" lvl="1">
              <a:lnSpc>
                <a:spcPts val="3317"/>
              </a:lnSpc>
              <a:buFont typeface="Arial"/>
              <a:buChar char="•"/>
            </a:pPr>
            <a:r>
              <a:rPr lang="en-US" sz="2369" spc="-87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Relevant documents retrieved using RAG</a:t>
            </a:r>
          </a:p>
          <a:p>
            <a:pPr algn="just" marL="511681" indent="-255841" lvl="1">
              <a:lnSpc>
                <a:spcPts val="3317"/>
              </a:lnSpc>
              <a:buFont typeface="Arial"/>
              <a:buChar char="•"/>
            </a:pPr>
            <a:r>
              <a:rPr lang="en-US" sz="2369" spc="-87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Retrieved data is validated for accuracy</a:t>
            </a:r>
          </a:p>
          <a:p>
            <a:pPr algn="just" marL="511681" indent="-255841" lvl="1">
              <a:lnSpc>
                <a:spcPts val="3317"/>
              </a:lnSpc>
              <a:buFont typeface="Arial"/>
              <a:buChar char="•"/>
            </a:pPr>
            <a:r>
              <a:rPr lang="en-US" sz="2369" spc="-87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AI generates respo</a:t>
            </a:r>
            <a:r>
              <a:rPr lang="en-US" sz="2369" spc="-87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nsibl</a:t>
            </a:r>
            <a:r>
              <a:rPr lang="en-US" sz="2369" spc="-87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e water-saving advice</a:t>
            </a:r>
          </a:p>
          <a:p>
            <a:pPr algn="just" marL="511681" indent="-255841" lvl="1">
              <a:lnSpc>
                <a:spcPts val="3317"/>
              </a:lnSpc>
              <a:buFont typeface="Arial"/>
              <a:buChar char="•"/>
            </a:pPr>
            <a:r>
              <a:rPr lang="en-US" sz="2369" spc="-87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Final response shown to the user</a:t>
            </a:r>
          </a:p>
          <a:p>
            <a:pPr algn="just">
              <a:lnSpc>
                <a:spcPts val="3317"/>
              </a:lnSpc>
            </a:pPr>
          </a:p>
          <a:p>
            <a:pPr algn="just">
              <a:lnSpc>
                <a:spcPts val="3317"/>
              </a:lnSpc>
            </a:pPr>
          </a:p>
          <a:p>
            <a:pPr algn="just">
              <a:lnSpc>
                <a:spcPts val="3317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040126" y="5974035"/>
            <a:ext cx="6610940" cy="4459380"/>
          </a:xfrm>
          <a:custGeom>
            <a:avLst/>
            <a:gdLst/>
            <a:ahLst/>
            <a:cxnLst/>
            <a:rect r="r" b="b" t="t" l="l"/>
            <a:pathLst>
              <a:path h="4459380" w="6610940">
                <a:moveTo>
                  <a:pt x="0" y="0"/>
                </a:moveTo>
                <a:lnTo>
                  <a:pt x="6610940" y="0"/>
                </a:lnTo>
                <a:lnTo>
                  <a:pt x="6610940" y="4459380"/>
                </a:lnTo>
                <a:lnTo>
                  <a:pt x="0" y="44593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621598" y="6418569"/>
            <a:ext cx="7029468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399"/>
              </a:lnSpc>
              <a:spcBef>
                <a:spcPct val="0"/>
              </a:spcBef>
            </a:pPr>
            <a:r>
              <a:rPr lang="en-US" b="true" sz="3999" spc="-147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DO</a:t>
            </a:r>
            <a:r>
              <a:rPr lang="en-US" b="true" sz="3999" spc="-147" strike="noStrike" u="none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</a:t>
            </a:r>
            <a:r>
              <a:rPr lang="en-US" b="true" sz="3999" spc="-147" strike="noStrike" u="none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UMENT SOUR</a:t>
            </a:r>
            <a:r>
              <a:rPr lang="en-US" b="true" sz="3999" spc="-147" strike="noStrike" u="none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</a:t>
            </a:r>
            <a:r>
              <a:rPr lang="en-US" b="true" sz="3999" spc="-147" strike="noStrike" u="none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08303" y="7086753"/>
            <a:ext cx="6142763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spc="-88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lang="en-US" sz="2400" spc="-88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AI system uses:</a:t>
            </a:r>
          </a:p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88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Government water conservation guidelines</a:t>
            </a:r>
          </a:p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88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Municipal water usage policies</a:t>
            </a:r>
          </a:p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88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Rainwater harvesting manuals</a:t>
            </a:r>
          </a:p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88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NGO sustainability reports</a:t>
            </a:r>
          </a:p>
          <a:p>
            <a:pPr algn="ctr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831386">
            <a:off x="12047004" y="627584"/>
            <a:ext cx="6651554" cy="5913836"/>
          </a:xfrm>
          <a:custGeom>
            <a:avLst/>
            <a:gdLst/>
            <a:ahLst/>
            <a:cxnLst/>
            <a:rect r="r" b="b" t="t" l="l"/>
            <a:pathLst>
              <a:path h="5913836" w="6651554">
                <a:moveTo>
                  <a:pt x="6651554" y="0"/>
                </a:moveTo>
                <a:lnTo>
                  <a:pt x="0" y="0"/>
                </a:lnTo>
                <a:lnTo>
                  <a:pt x="0" y="5913837"/>
                </a:lnTo>
                <a:lnTo>
                  <a:pt x="6651554" y="5913837"/>
                </a:lnTo>
                <a:lnTo>
                  <a:pt x="6651554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true" flipV="false" rot="-831386">
            <a:off x="11992813" y="407894"/>
            <a:ext cx="6651554" cy="5913836"/>
          </a:xfrm>
          <a:custGeom>
            <a:avLst/>
            <a:gdLst/>
            <a:ahLst/>
            <a:cxnLst/>
            <a:rect r="r" b="b" t="t" l="l"/>
            <a:pathLst>
              <a:path h="5913836" w="6651554">
                <a:moveTo>
                  <a:pt x="6651554" y="0"/>
                </a:moveTo>
                <a:lnTo>
                  <a:pt x="0" y="0"/>
                </a:lnTo>
                <a:lnTo>
                  <a:pt x="0" y="5913837"/>
                </a:lnTo>
                <a:lnTo>
                  <a:pt x="6651554" y="5913837"/>
                </a:lnTo>
                <a:lnTo>
                  <a:pt x="665155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238335">
            <a:off x="15713905" y="583661"/>
            <a:ext cx="1372696" cy="1586099"/>
          </a:xfrm>
          <a:custGeom>
            <a:avLst/>
            <a:gdLst/>
            <a:ahLst/>
            <a:cxnLst/>
            <a:rect r="r" b="b" t="t" l="l"/>
            <a:pathLst>
              <a:path h="1586099" w="1372696">
                <a:moveTo>
                  <a:pt x="0" y="0"/>
                </a:moveTo>
                <a:lnTo>
                  <a:pt x="1372697" y="0"/>
                </a:lnTo>
                <a:lnTo>
                  <a:pt x="1372697" y="1586099"/>
                </a:lnTo>
                <a:lnTo>
                  <a:pt x="0" y="15860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6489279" cy="10287000"/>
          </a:xfrm>
          <a:custGeom>
            <a:avLst/>
            <a:gdLst/>
            <a:ahLst/>
            <a:cxnLst/>
            <a:rect r="r" b="b" t="t" l="l"/>
            <a:pathLst>
              <a:path h="10287000" w="6489279">
                <a:moveTo>
                  <a:pt x="0" y="0"/>
                </a:moveTo>
                <a:lnTo>
                  <a:pt x="6489279" y="0"/>
                </a:lnTo>
                <a:lnTo>
                  <a:pt x="648927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5615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6489279" y="803646"/>
            <a:ext cx="7630230" cy="154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9"/>
              </a:lnSpc>
            </a:pPr>
            <a:r>
              <a:rPr lang="en-US" b="true" sz="5499" spc="-203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FLOW DIAGRAM  </a:t>
            </a:r>
          </a:p>
          <a:p>
            <a:pPr algn="just" marL="0" indent="0" lvl="0">
              <a:lnSpc>
                <a:spcPts val="6049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001430" y="5613810"/>
            <a:ext cx="6431843" cy="4338571"/>
          </a:xfrm>
          <a:custGeom>
            <a:avLst/>
            <a:gdLst/>
            <a:ahLst/>
            <a:cxnLst/>
            <a:rect r="r" b="b" t="t" l="l"/>
            <a:pathLst>
              <a:path h="4338571" w="6431843">
                <a:moveTo>
                  <a:pt x="0" y="0"/>
                </a:moveTo>
                <a:lnTo>
                  <a:pt x="6431844" y="0"/>
                </a:lnTo>
                <a:lnTo>
                  <a:pt x="6431844" y="4338571"/>
                </a:lnTo>
                <a:lnTo>
                  <a:pt x="0" y="43385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256072" y="6564149"/>
            <a:ext cx="5922559" cy="2390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0094" indent="-245047" lvl="1">
              <a:lnSpc>
                <a:spcPts val="3178"/>
              </a:lnSpc>
              <a:buFont typeface="Arial"/>
              <a:buChar char="•"/>
            </a:pPr>
            <a:r>
              <a:rPr lang="en-US" sz="2270" spc="-8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User asks a q</a:t>
            </a:r>
            <a:r>
              <a:rPr lang="en-US" sz="2270" spc="-8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uestion</a:t>
            </a:r>
          </a:p>
          <a:p>
            <a:pPr algn="just" marL="490094" indent="-245047" lvl="1">
              <a:lnSpc>
                <a:spcPts val="3178"/>
              </a:lnSpc>
              <a:buFont typeface="Arial"/>
              <a:buChar char="•"/>
            </a:pPr>
            <a:r>
              <a:rPr lang="en-US" sz="2270" spc="-8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AI processes the query</a:t>
            </a:r>
          </a:p>
          <a:p>
            <a:pPr algn="just" marL="490094" indent="-245047" lvl="1">
              <a:lnSpc>
                <a:spcPts val="3178"/>
              </a:lnSpc>
              <a:buFont typeface="Arial"/>
              <a:buChar char="•"/>
            </a:pPr>
            <a:r>
              <a:rPr lang="en-US" sz="2270" spc="-8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Relevant documents are retrieved</a:t>
            </a:r>
          </a:p>
          <a:p>
            <a:pPr algn="just" marL="490094" indent="-245047" lvl="1">
              <a:lnSpc>
                <a:spcPts val="3178"/>
              </a:lnSpc>
              <a:buFont typeface="Arial"/>
              <a:buChar char="•"/>
            </a:pPr>
            <a:r>
              <a:rPr lang="en-US" sz="2270" spc="-8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AI ge</a:t>
            </a:r>
            <a:r>
              <a:rPr lang="en-US" sz="2270" spc="-8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nerates response using retrieved data</a:t>
            </a:r>
          </a:p>
          <a:p>
            <a:pPr algn="just">
              <a:lnSpc>
                <a:spcPts val="3178"/>
              </a:lnSpc>
            </a:pPr>
            <a:r>
              <a:rPr lang="en-US" sz="2270" spc="-8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  <a:r>
              <a:rPr lang="en-US" sz="2270" spc="-8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Accurate answer shown to user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01430" y="6014420"/>
            <a:ext cx="643184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 spc="-92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SAMPLE OUTPUT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01403" y="-15011"/>
            <a:ext cx="7086597" cy="10302011"/>
            <a:chOff x="0" y="0"/>
            <a:chExt cx="812800" cy="1181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181593"/>
            </a:xfrm>
            <a:custGeom>
              <a:avLst/>
              <a:gdLst/>
              <a:ahLst/>
              <a:cxnLst/>
              <a:rect r="r" b="b" t="t" l="l"/>
              <a:pathLst>
                <a:path h="118159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181593"/>
                  </a:lnTo>
                  <a:lnTo>
                    <a:pt x="0" y="1181593"/>
                  </a:lnTo>
                  <a:close/>
                </a:path>
              </a:pathLst>
            </a:custGeom>
            <a:blipFill>
              <a:blip r:embed="rId2"/>
              <a:stretch>
                <a:fillRect l="0" t="-1526" r="0" b="-15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2669620"/>
            <a:ext cx="11287102" cy="2890022"/>
            <a:chOff x="0" y="0"/>
            <a:chExt cx="2972735" cy="7611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72735" cy="761158"/>
            </a:xfrm>
            <a:custGeom>
              <a:avLst/>
              <a:gdLst/>
              <a:ahLst/>
              <a:cxnLst/>
              <a:rect r="r" b="b" t="t" l="l"/>
              <a:pathLst>
                <a:path h="761158" w="2972735">
                  <a:moveTo>
                    <a:pt x="0" y="0"/>
                  </a:moveTo>
                  <a:lnTo>
                    <a:pt x="2972735" y="0"/>
                  </a:lnTo>
                  <a:lnTo>
                    <a:pt x="2972735" y="761158"/>
                  </a:lnTo>
                  <a:lnTo>
                    <a:pt x="0" y="761158"/>
                  </a:lnTo>
                  <a:close/>
                </a:path>
              </a:pathLst>
            </a:custGeom>
            <a:solidFill>
              <a:srgbClr val="D4E84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972735" cy="808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 flipV="true">
            <a:off x="2687608" y="3064822"/>
            <a:ext cx="0" cy="2311849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028700" y="5942639"/>
            <a:ext cx="11287102" cy="3255965"/>
            <a:chOff x="0" y="0"/>
            <a:chExt cx="2972735" cy="8575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2735" cy="857538"/>
            </a:xfrm>
            <a:custGeom>
              <a:avLst/>
              <a:gdLst/>
              <a:ahLst/>
              <a:cxnLst/>
              <a:rect r="r" b="b" t="t" l="l"/>
              <a:pathLst>
                <a:path h="857538" w="2972735">
                  <a:moveTo>
                    <a:pt x="0" y="0"/>
                  </a:moveTo>
                  <a:lnTo>
                    <a:pt x="2972735" y="0"/>
                  </a:lnTo>
                  <a:lnTo>
                    <a:pt x="2972735" y="857538"/>
                  </a:lnTo>
                  <a:lnTo>
                    <a:pt x="0" y="857538"/>
                  </a:lnTo>
                  <a:close/>
                </a:path>
              </a:pathLst>
            </a:custGeom>
            <a:solidFill>
              <a:srgbClr val="D4E84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972735" cy="905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2687608" y="6414696"/>
            <a:ext cx="0" cy="2311849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0039653" y="-941843"/>
            <a:ext cx="4054948" cy="4114800"/>
          </a:xfrm>
          <a:custGeom>
            <a:avLst/>
            <a:gdLst/>
            <a:ahLst/>
            <a:cxnLst/>
            <a:rect r="r" b="b" t="t" l="l"/>
            <a:pathLst>
              <a:path h="4114800" w="4054948">
                <a:moveTo>
                  <a:pt x="0" y="0"/>
                </a:moveTo>
                <a:lnTo>
                  <a:pt x="4054948" y="0"/>
                </a:lnTo>
                <a:lnTo>
                  <a:pt x="40549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51468" y="3746331"/>
            <a:ext cx="978136" cy="78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49"/>
              </a:lnSpc>
            </a:pPr>
            <a:r>
              <a:rPr lang="en-US" sz="5499" spc="-2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51468" y="7096206"/>
            <a:ext cx="978136" cy="78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49"/>
              </a:lnSpc>
            </a:pPr>
            <a:r>
              <a:rPr lang="en-US" sz="5499" spc="-203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1428" y="1062435"/>
            <a:ext cx="12829759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029"/>
              </a:lnSpc>
              <a:spcBef>
                <a:spcPct val="0"/>
              </a:spcBef>
            </a:pPr>
            <a:r>
              <a:rPr lang="en-US" b="true" sz="7299" spc="-270">
                <a:solidFill>
                  <a:srgbClr val="00010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IMPACT STATEMENT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50408" y="2767399"/>
            <a:ext cx="8671799" cy="931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3"/>
              </a:lnSpc>
            </a:pPr>
            <a:r>
              <a:rPr lang="en-US" b="true" sz="2709" spc="-100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CHANGES IF THIS SOLUTION IS IMPLEMENTED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87608" y="3732219"/>
            <a:ext cx="10172703" cy="212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4862" indent="-277431" lvl="1">
              <a:lnSpc>
                <a:spcPts val="3597"/>
              </a:lnSpc>
              <a:buFont typeface="Arial"/>
              <a:buChar char="•"/>
            </a:pPr>
            <a:r>
              <a:rPr lang="en-US" sz="2569" spc="-95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Peopl</a:t>
            </a:r>
            <a:r>
              <a:rPr lang="en-US" sz="2569" spc="-95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e become more conscious about water usage</a:t>
            </a:r>
          </a:p>
          <a:p>
            <a:pPr algn="just" marL="554862" indent="-277431" lvl="1">
              <a:lnSpc>
                <a:spcPts val="3597"/>
              </a:lnSpc>
              <a:buFont typeface="Arial"/>
              <a:buChar char="•"/>
            </a:pPr>
            <a:r>
              <a:rPr lang="en-US" sz="2569" spc="-95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Daily water consumption reduces</a:t>
            </a:r>
          </a:p>
          <a:p>
            <a:pPr algn="just" marL="554862" indent="-277431" lvl="1">
              <a:lnSpc>
                <a:spcPts val="3597"/>
              </a:lnSpc>
              <a:buFont typeface="Arial"/>
              <a:buChar char="•"/>
            </a:pPr>
            <a:r>
              <a:rPr lang="en-US" sz="2569" spc="-95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569" spc="-95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ommu</a:t>
            </a:r>
            <a:r>
              <a:rPr lang="en-US" sz="2569" spc="-95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niti</a:t>
            </a:r>
            <a:r>
              <a:rPr lang="en-US" sz="2569" spc="-95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es adopt sustainable habits</a:t>
            </a:r>
          </a:p>
          <a:p>
            <a:pPr algn="just">
              <a:lnSpc>
                <a:spcPts val="3178"/>
              </a:lnSpc>
            </a:pPr>
          </a:p>
          <a:p>
            <a:pPr algn="just">
              <a:lnSpc>
                <a:spcPts val="3178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458372" y="6146845"/>
            <a:ext cx="5446308" cy="48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73"/>
              </a:lnSpc>
            </a:pPr>
            <a:r>
              <a:rPr lang="en-US" b="true" sz="2909" spc="-107">
                <a:solidFill>
                  <a:srgbClr val="00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WHO BENEFITS AND HOW?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41524" y="6805630"/>
            <a:ext cx="7620249" cy="2092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1683" indent="-255842" lvl="1">
              <a:lnSpc>
                <a:spcPts val="3318"/>
              </a:lnSpc>
              <a:buFont typeface="Arial"/>
              <a:buChar char="•"/>
            </a:pPr>
            <a:r>
              <a:rPr lang="en-US" sz="2370" spc="-87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370" spc="-87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ndividuals: Save water and reduce bills</a:t>
            </a:r>
          </a:p>
          <a:p>
            <a:pPr algn="just" marL="511683" indent="-255842" lvl="1">
              <a:lnSpc>
                <a:spcPts val="3318"/>
              </a:lnSpc>
              <a:buFont typeface="Arial"/>
              <a:buChar char="•"/>
            </a:pPr>
            <a:r>
              <a:rPr lang="en-US" sz="2370" spc="-87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Communiti</a:t>
            </a:r>
            <a:r>
              <a:rPr lang="en-US" sz="2370" spc="-87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370" spc="-87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s: Better water availability</a:t>
            </a:r>
          </a:p>
          <a:p>
            <a:pPr algn="just" marL="511683" indent="-255842" lvl="1">
              <a:lnSpc>
                <a:spcPts val="3318"/>
              </a:lnSpc>
              <a:buFont typeface="Arial"/>
              <a:buChar char="•"/>
            </a:pPr>
            <a:r>
              <a:rPr lang="en-US" sz="2370" spc="-87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En</a:t>
            </a:r>
            <a:r>
              <a:rPr lang="en-US" sz="2370" spc="-87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vironment: Reduced stress on water resources</a:t>
            </a:r>
          </a:p>
          <a:p>
            <a:pPr algn="just" marL="511683" indent="-255842" lvl="1">
              <a:lnSpc>
                <a:spcPts val="3318"/>
              </a:lnSpc>
              <a:buFont typeface="Arial"/>
              <a:buChar char="•"/>
            </a:pPr>
            <a:r>
              <a:rPr lang="en-US" sz="2370" spc="-87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Fu</a:t>
            </a:r>
            <a:r>
              <a:rPr lang="en-US" sz="2370" spc="-87">
                <a:solidFill>
                  <a:srgbClr val="000101"/>
                </a:solidFill>
                <a:latin typeface="Montserrat"/>
                <a:ea typeface="Montserrat"/>
                <a:cs typeface="Montserrat"/>
                <a:sym typeface="Montserrat"/>
              </a:rPr>
              <a:t>ture generations: Sustainable water access </a:t>
            </a:r>
          </a:p>
          <a:p>
            <a:pPr algn="just">
              <a:lnSpc>
                <a:spcPts val="3318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31315">
            <a:off x="6507878" y="4860098"/>
            <a:ext cx="10716342" cy="2041866"/>
            <a:chOff x="0" y="0"/>
            <a:chExt cx="2398927" cy="4570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98927" cy="457086"/>
            </a:xfrm>
            <a:custGeom>
              <a:avLst/>
              <a:gdLst/>
              <a:ahLst/>
              <a:cxnLst/>
              <a:rect r="r" b="b" t="t" l="l"/>
              <a:pathLst>
                <a:path h="457086" w="2398927">
                  <a:moveTo>
                    <a:pt x="10837" y="0"/>
                  </a:moveTo>
                  <a:lnTo>
                    <a:pt x="2388090" y="0"/>
                  </a:lnTo>
                  <a:cubicBezTo>
                    <a:pt x="2394075" y="0"/>
                    <a:pt x="2398927" y="4852"/>
                    <a:pt x="2398927" y="10837"/>
                  </a:cubicBezTo>
                  <a:lnTo>
                    <a:pt x="2398927" y="446249"/>
                  </a:lnTo>
                  <a:cubicBezTo>
                    <a:pt x="2398927" y="449123"/>
                    <a:pt x="2397785" y="451880"/>
                    <a:pt x="2395753" y="453912"/>
                  </a:cubicBezTo>
                  <a:cubicBezTo>
                    <a:pt x="2393720" y="455944"/>
                    <a:pt x="2390964" y="457086"/>
                    <a:pt x="2388090" y="457086"/>
                  </a:cubicBezTo>
                  <a:lnTo>
                    <a:pt x="10837" y="457086"/>
                  </a:lnTo>
                  <a:cubicBezTo>
                    <a:pt x="4852" y="457086"/>
                    <a:pt x="0" y="452234"/>
                    <a:pt x="0" y="446249"/>
                  </a:cubicBezTo>
                  <a:lnTo>
                    <a:pt x="0" y="10837"/>
                  </a:lnTo>
                  <a:cubicBezTo>
                    <a:pt x="0" y="4852"/>
                    <a:pt x="4852" y="0"/>
                    <a:pt x="10837" y="0"/>
                  </a:cubicBezTo>
                  <a:close/>
                </a:path>
              </a:pathLst>
            </a:custGeom>
            <a:solidFill>
              <a:srgbClr val="00010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98927" cy="495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31315">
            <a:off x="6331163" y="4687773"/>
            <a:ext cx="10716342" cy="2041866"/>
            <a:chOff x="0" y="0"/>
            <a:chExt cx="2398927" cy="4570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98927" cy="457086"/>
            </a:xfrm>
            <a:custGeom>
              <a:avLst/>
              <a:gdLst/>
              <a:ahLst/>
              <a:cxnLst/>
              <a:rect r="r" b="b" t="t" l="l"/>
              <a:pathLst>
                <a:path h="457086" w="2398927">
                  <a:moveTo>
                    <a:pt x="10837" y="0"/>
                  </a:moveTo>
                  <a:lnTo>
                    <a:pt x="2388090" y="0"/>
                  </a:lnTo>
                  <a:cubicBezTo>
                    <a:pt x="2394075" y="0"/>
                    <a:pt x="2398927" y="4852"/>
                    <a:pt x="2398927" y="10837"/>
                  </a:cubicBezTo>
                  <a:lnTo>
                    <a:pt x="2398927" y="446249"/>
                  </a:lnTo>
                  <a:cubicBezTo>
                    <a:pt x="2398927" y="449123"/>
                    <a:pt x="2397785" y="451880"/>
                    <a:pt x="2395753" y="453912"/>
                  </a:cubicBezTo>
                  <a:cubicBezTo>
                    <a:pt x="2393720" y="455944"/>
                    <a:pt x="2390964" y="457086"/>
                    <a:pt x="2388090" y="457086"/>
                  </a:cubicBezTo>
                  <a:lnTo>
                    <a:pt x="10837" y="457086"/>
                  </a:lnTo>
                  <a:cubicBezTo>
                    <a:pt x="4852" y="457086"/>
                    <a:pt x="0" y="452234"/>
                    <a:pt x="0" y="446249"/>
                  </a:cubicBezTo>
                  <a:lnTo>
                    <a:pt x="0" y="10837"/>
                  </a:lnTo>
                  <a:cubicBezTo>
                    <a:pt x="0" y="4852"/>
                    <a:pt x="4852" y="0"/>
                    <a:pt x="10837" y="0"/>
                  </a:cubicBezTo>
                  <a:close/>
                </a:path>
              </a:pathLst>
            </a:custGeom>
            <a:solidFill>
              <a:srgbClr val="D2647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98927" cy="495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515169"/>
            <a:ext cx="7181754" cy="7743131"/>
          </a:xfrm>
          <a:custGeom>
            <a:avLst/>
            <a:gdLst/>
            <a:ahLst/>
            <a:cxnLst/>
            <a:rect r="r" b="b" t="t" l="l"/>
            <a:pathLst>
              <a:path h="7743131" w="7181754">
                <a:moveTo>
                  <a:pt x="0" y="0"/>
                </a:moveTo>
                <a:lnTo>
                  <a:pt x="7181754" y="0"/>
                </a:lnTo>
                <a:lnTo>
                  <a:pt x="7181754" y="7743131"/>
                </a:lnTo>
                <a:lnTo>
                  <a:pt x="0" y="77431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-131315">
            <a:off x="6774683" y="4677842"/>
            <a:ext cx="9931722" cy="378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53"/>
              </a:lnSpc>
            </a:pPr>
            <a:r>
              <a:rPr lang="en-US" b="true" sz="10824" spc="-454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 YOU</a:t>
            </a:r>
          </a:p>
          <a:p>
            <a:pPr algn="ctr">
              <a:lnSpc>
                <a:spcPts val="15153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DAG-lhPKRS8</dc:identifier>
  <dcterms:modified xsi:type="dcterms:W3CDTF">2011-08-01T06:04:30Z</dcterms:modified>
  <cp:revision>1</cp:revision>
  <dc:title>Presented by G RAJASREE BAGEPALLI LAKSHMI PRIYA PALLAVI M DIVYA SHETTY</dc:title>
</cp:coreProperties>
</file>